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222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2331720"/>
            <a:ext cx="457200" cy="54864"/>
          </a:xfrm>
          <a:prstGeom prst="roundRect">
            <a:avLst>
              <a:gd name="adj" fmla="val 50000"/>
            </a:avLst>
          </a:prstGeom>
          <a:solidFill>
            <a:srgbClr val="502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14600"/>
            <a:ext cx="105156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4200" b="1" i="0">
                <a:solidFill>
                  <a:srgbClr val="FFFFFF"/>
                </a:solidFill>
                <a:latin typeface="Inter"/>
              </a:rPr>
              <a:t>Plataforma de fidelizacion COTO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42900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0" i="0">
                <a:solidFill>
                  <a:srgbClr val="AFAFAF"/>
                </a:solidFill>
                <a:latin typeface="Inter"/>
              </a:rPr>
              <a:t>Plan de negocios e implementacion tecnologica de una solucion de datos y agentes de 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3776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i="0">
                <a:solidFill>
                  <a:srgbClr val="9A8FC9"/>
                </a:solidFill>
                <a:latin typeface="Inter"/>
              </a:rPr>
              <a:t>MT10 — Innovacion Tecnologica  ·  Presentacion a CFO / CEO / CMO  ·  10 minutos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0936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 i="0">
                <a:solidFill>
                  <a:srgbClr val="8A8A8A"/>
                </a:solidFill>
                <a:latin typeface="Inter"/>
              </a:rPr>
              <a:t>Equipo del TP — Maestria en Gestion de Servicios Tecnologicos y de Telecomunicaciones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 i="0">
                <a:solidFill>
                  <a:srgbClr val="502BD8"/>
                </a:solidFill>
                <a:latin typeface="Inter"/>
              </a:rPr>
              <a:t>EL PROBLEMA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88136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500" b="1" i="0">
                <a:solidFill>
                  <a:srgbClr val="222222"/>
                </a:solidFill>
                <a:latin typeface="Inter"/>
              </a:rPr>
              <a:t>COTO lidera el mercado y lidera el e-commerce del sector.</a:t>
            </a:r>
          </a:p>
          <a:p>
            <a:pPr algn="l">
              <a:lnSpc>
                <a:spcPct val="118000"/>
              </a:lnSpc>
            </a:pPr>
            <a:r>
              <a:rPr sz="2500" b="1" i="0">
                <a:solidFill>
                  <a:srgbClr val="222222"/>
                </a:solidFill>
                <a:latin typeface="Inter"/>
              </a:rPr>
              <a:t>El problema no es digital.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86000"/>
            <a:ext cx="5760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8000" b="1" i="0">
                <a:solidFill>
                  <a:srgbClr val="FA5D29"/>
                </a:solidFill>
                <a:latin typeface="Inter"/>
              </a:rPr>
              <a:t>35—45%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840480"/>
            <a:ext cx="5486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700" b="0" i="0">
                <a:solidFill>
                  <a:srgbClr val="222222"/>
                </a:solidFill>
                <a:latin typeface="Inter"/>
              </a:rPr>
              <a:t>de las transacciones presenciales pierden trazabilidad de cliente:</a:t>
            </a:r>
          </a:p>
          <a:p>
            <a:pPr algn="l">
              <a:lnSpc>
                <a:spcPct val="118000"/>
              </a:lnSpc>
            </a:pPr>
            <a:r>
              <a:rPr sz="1700" b="0" i="0">
                <a:solidFill>
                  <a:srgbClr val="222222"/>
                </a:solidFill>
                <a:latin typeface="Inter"/>
              </a:rPr>
              <a:t>se cierran sin DNI ni carnet de Comunidad COTO.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0" y="2286000"/>
            <a:ext cx="4892040" cy="3246120"/>
          </a:xfrm>
          <a:prstGeom prst="roundRect">
            <a:avLst>
              <a:gd name="adj" fmla="val 2347"/>
            </a:avLst>
          </a:prstGeom>
          <a:solidFill>
            <a:srgbClr val="FFFFFF"/>
          </a:solidFill>
          <a:ln w="9525">
            <a:solidFill>
              <a:srgbClr val="EDED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86600" y="256032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 i="0">
                <a:solidFill>
                  <a:srgbClr val="502BD8"/>
                </a:solidFill>
                <a:latin typeface="Inter"/>
              </a:rPr>
              <a:t>12.000.000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86600" y="3090672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i="0">
                <a:solidFill>
                  <a:srgbClr val="6E6E6E"/>
                </a:solidFill>
                <a:latin typeface="Inter"/>
              </a:rPr>
              <a:t>transacciones presenciales por mes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86600" y="3703320"/>
            <a:ext cx="4297680" cy="1691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300" b="1">
                <a:solidFill>
                  <a:srgbClr val="502BD8"/>
                </a:solidFill>
                <a:latin typeface="Inter"/>
              </a:rPr>
              <a:t>—  </a:t>
            </a:r>
            <a:r>
              <a:rPr sz="1300">
                <a:solidFill>
                  <a:srgbClr val="222222"/>
                </a:solidFill>
                <a:latin typeface="Inter"/>
              </a:rPr>
              <a:t>COTO: 22,3% de participacion de mercado — el lider del sector.</a:t>
            </a:r>
          </a:p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300" b="1">
                <a:solidFill>
                  <a:srgbClr val="502BD8"/>
                </a:solidFill>
                <a:latin typeface="Inter"/>
              </a:rPr>
              <a:t>—  </a:t>
            </a:r>
            <a:r>
              <a:rPr sz="1300">
                <a:solidFill>
                  <a:srgbClr val="222222"/>
                </a:solidFill>
                <a:latin typeface="Inter"/>
              </a:rPr>
              <a:t>Coto Digital lidera el e-commerce de supermercados en Argentina.</a:t>
            </a:r>
          </a:p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300" b="1">
                <a:solidFill>
                  <a:srgbClr val="502BD8"/>
                </a:solidFill>
                <a:latin typeface="Inter"/>
              </a:rPr>
              <a:t>—  </a:t>
            </a:r>
            <a:r>
              <a:rPr sz="1300">
                <a:solidFill>
                  <a:srgbClr val="222222"/>
                </a:solidFill>
                <a:latin typeface="Inter"/>
              </a:rPr>
              <a:t>El cliente que compra en salon sin identificarse queda invisible para segmentacion, campanas y atencion personalizada.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 i="0">
                <a:solidFill>
                  <a:srgbClr val="6E6E6E"/>
                </a:solidFill>
                <a:latin typeface="Inter"/>
              </a:rPr>
              <a:t>COTO — Plataforma de fidelizacion  ·  El problema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0" i="0">
                <a:solidFill>
                  <a:srgbClr val="6E6E6E"/>
                </a:solidFill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 i="0">
                <a:solidFill>
                  <a:srgbClr val="502BD8"/>
                </a:solidFill>
                <a:latin typeface="Inter"/>
              </a:rPr>
              <a:t>POR QUE AHORA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88136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500" b="1" i="0">
                <a:solidFill>
                  <a:srgbClr val="222222"/>
                </a:solidFill>
                <a:latin typeface="Inter"/>
              </a:rPr>
              <a:t>COTO es el unico de los dos lideres de mercado sin billetera digital propia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057400"/>
            <a:ext cx="11091672" cy="2157984"/>
          </a:xfrm>
          <a:prstGeom prst="roundRect">
            <a:avLst>
              <a:gd name="adj" fmla="val 1765"/>
            </a:avLst>
          </a:prstGeom>
          <a:solidFill>
            <a:srgbClr val="FFFFFF"/>
          </a:solidFill>
          <a:ln w="12700">
            <a:solidFill>
              <a:srgbClr val="EDED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2057400"/>
            <a:ext cx="11091672" cy="457200"/>
          </a:xfrm>
          <a:prstGeom prst="roundRect">
            <a:avLst>
              <a:gd name="adj" fmla="val 8333"/>
            </a:avLst>
          </a:prstGeom>
          <a:solidFill>
            <a:srgbClr val="2222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2476500"/>
            <a:ext cx="11091672" cy="38100"/>
          </a:xfrm>
          <a:prstGeom prst="rect">
            <a:avLst/>
          </a:prstGeom>
          <a:solidFill>
            <a:srgbClr val="2222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6656" y="2057400"/>
            <a:ext cx="254203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 i="0">
                <a:solidFill>
                  <a:srgbClr val="FFFFFF"/>
                </a:solidFill>
                <a:latin typeface="Inter"/>
              </a:rPr>
              <a:t>Cadena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19856" y="2057400"/>
            <a:ext cx="15361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 i="0">
                <a:solidFill>
                  <a:srgbClr val="FFFFFF"/>
                </a:solidFill>
                <a:latin typeface="Inter"/>
              </a:rPr>
              <a:t>Participacion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57216" y="2057400"/>
            <a:ext cx="640994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 i="0">
                <a:solidFill>
                  <a:srgbClr val="FFFFFF"/>
                </a:solidFill>
                <a:latin typeface="Inter"/>
              </a:rPr>
              <a:t>Billetera digital propia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514600"/>
            <a:ext cx="11091672" cy="9525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6656" y="2514600"/>
            <a:ext cx="254203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0" i="0">
                <a:solidFill>
                  <a:srgbClr val="222222"/>
                </a:solidFill>
                <a:latin typeface="Inter"/>
              </a:rPr>
              <a:t>COTO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19856" y="2514600"/>
            <a:ext cx="153619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0" i="0">
                <a:solidFill>
                  <a:srgbClr val="222222"/>
                </a:solidFill>
                <a:latin typeface="Inter"/>
              </a:rPr>
              <a:t>22,3%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57216" y="2514600"/>
            <a:ext cx="6409944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0" i="0">
                <a:solidFill>
                  <a:srgbClr val="222222"/>
                </a:solidFill>
                <a:latin typeface="Inter"/>
              </a:rPr>
              <a:t>No — paga a un tercero (Mercado Pago) por pagos digitales en caja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081528"/>
            <a:ext cx="11091672" cy="566928"/>
          </a:xfrm>
          <a:prstGeom prst="rect">
            <a:avLst/>
          </a:prstGeom>
          <a:solidFill>
            <a:srgbClr val="F8F8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3081528"/>
            <a:ext cx="11091672" cy="9525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6656" y="3081528"/>
            <a:ext cx="254203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0" i="0">
                <a:solidFill>
                  <a:srgbClr val="222222"/>
                </a:solidFill>
                <a:latin typeface="Inter"/>
              </a:rPr>
              <a:t>Carrefour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19856" y="3081528"/>
            <a:ext cx="153619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0" i="0">
                <a:solidFill>
                  <a:srgbClr val="222222"/>
                </a:solidFill>
                <a:latin typeface="Inter"/>
              </a:rPr>
              <a:t>21,0%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57216" y="3081528"/>
            <a:ext cx="6409944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0" i="0">
                <a:solidFill>
                  <a:srgbClr val="222222"/>
                </a:solidFill>
                <a:latin typeface="Inter"/>
              </a:rPr>
              <a:t>Si — Cuenta Digital Mi Carrefour (lanzada sept. 2025)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3648456"/>
            <a:ext cx="11091672" cy="9525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6656" y="3648456"/>
            <a:ext cx="254203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0" i="0">
                <a:solidFill>
                  <a:srgbClr val="222222"/>
                </a:solidFill>
                <a:latin typeface="Inter"/>
              </a:rPr>
              <a:t>Cencosud (Jumbo / Disco / Vea)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19856" y="3648456"/>
            <a:ext cx="153619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0" i="0">
                <a:solidFill>
                  <a:srgbClr val="222222"/>
                </a:solidFill>
                <a:latin typeface="Inter"/>
              </a:rPr>
              <a:t>17,0%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57216" y="3648456"/>
            <a:ext cx="6409944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0" i="0">
                <a:solidFill>
                  <a:srgbClr val="222222"/>
                </a:solidFill>
                <a:latin typeface="Inter"/>
              </a:rPr>
              <a:t>Si — CencoPay, cashback diario (desde 2023)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160520"/>
            <a:ext cx="1097280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500" b="1">
                <a:solidFill>
                  <a:srgbClr val="502BD8"/>
                </a:solidFill>
                <a:latin typeface="Inter"/>
              </a:rPr>
              <a:t>—  </a:t>
            </a:r>
            <a:r>
              <a:rPr sz="1500">
                <a:solidFill>
                  <a:srgbClr val="222222"/>
                </a:solidFill>
                <a:latin typeface="Inter"/>
              </a:rPr>
              <a:t>Carrefour lanzo su wallet hace menos de un ano y ya esta en fase agresiva de adquisicion de usuarios.</a:t>
            </a:r>
          </a:p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500" b="1">
                <a:solidFill>
                  <a:srgbClr val="502BD8"/>
                </a:solidFill>
                <a:latin typeface="Inter"/>
              </a:rPr>
              <a:t>—  </a:t>
            </a:r>
            <a:r>
              <a:rPr sz="1500">
                <a:solidFill>
                  <a:srgbClr val="222222"/>
                </a:solidFill>
                <a:latin typeface="Inter"/>
              </a:rPr>
              <a:t>Cencosud opera dos mecanismos de fidelizacion en paralelo (puntos + CencoPay) desde 2023.</a:t>
            </a:r>
          </a:p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500" b="1">
                <a:solidFill>
                  <a:srgbClr val="502BD8"/>
                </a:solidFill>
                <a:latin typeface="Inter"/>
              </a:rPr>
              <a:t>—  </a:t>
            </a:r>
            <a:r>
              <a:rPr sz="1500">
                <a:solidFill>
                  <a:srgbClr val="222222"/>
                </a:solidFill>
                <a:latin typeface="Inter"/>
              </a:rPr>
              <a:t>La ventana para entrar sin quedar tercero en la categoria sigue abierta, pero se angosta cada trimestre.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 i="0">
                <a:solidFill>
                  <a:srgbClr val="6E6E6E"/>
                </a:solidFill>
                <a:latin typeface="Inter"/>
              </a:rPr>
              <a:t>COTO — Plataforma de fidelizacion  ·  Panorama competitivo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0" i="0">
                <a:solidFill>
                  <a:srgbClr val="6E6E6E"/>
                </a:solidFill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57200"/>
            <a:ext cx="2084831" cy="384048"/>
          </a:xfrm>
          <a:prstGeom prst="roundRect">
            <a:avLst>
              <a:gd name="adj" fmla="val 39682"/>
            </a:avLst>
          </a:prstGeom>
          <a:solidFill>
            <a:srgbClr val="502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En caja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199" y="457200"/>
            <a:ext cx="2084831" cy="384048"/>
          </a:xfrm>
          <a:prstGeom prst="roundRect">
            <a:avLst>
              <a:gd name="adj" fmla="val 39682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100" b="0">
                <a:solidFill>
                  <a:srgbClr val="6E6E6E"/>
                </a:solidFill>
                <a:latin typeface="Inter"/>
              </a:rPr>
              <a:t>Reclamo posventa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937758" y="457200"/>
            <a:ext cx="2084831" cy="384048"/>
          </a:xfrm>
          <a:prstGeom prst="roundRect">
            <a:avLst>
              <a:gd name="adj" fmla="val 39682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100" b="0">
                <a:solidFill>
                  <a:srgbClr val="6E6E6E"/>
                </a:solidFill>
                <a:latin typeface="Inter"/>
              </a:rPr>
              <a:t>Campanas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17" y="457200"/>
            <a:ext cx="2084831" cy="384048"/>
          </a:xfrm>
          <a:prstGeom prst="roundRect">
            <a:avLst>
              <a:gd name="adj" fmla="val 39682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100" b="0">
                <a:solidFill>
                  <a:srgbClr val="6E6E6E"/>
                </a:solidFill>
                <a:latin typeface="Inter"/>
              </a:rPr>
              <a:t>Coto Digital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326876" y="457200"/>
            <a:ext cx="2084831" cy="384048"/>
          </a:xfrm>
          <a:prstGeom prst="roundRect">
            <a:avLst>
              <a:gd name="adj" fmla="val 39682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100" b="0">
                <a:solidFill>
                  <a:srgbClr val="6E6E6E"/>
                </a:solidFill>
                <a:latin typeface="Inter"/>
              </a:rPr>
              <a:t>Redes sociales / WhatsApp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572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 i="0">
                <a:solidFill>
                  <a:srgbClr val="6E6E6E"/>
                </a:solidFill>
                <a:latin typeface="Inter"/>
              </a:rPr>
              <a:t>LA PROPUESTA  ·  1 DE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234440"/>
            <a:ext cx="1088136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500" b="1" i="0">
                <a:solidFill>
                  <a:srgbClr val="222222"/>
                </a:solidFill>
                <a:latin typeface="Inter"/>
              </a:rPr>
              <a:t>En caja: la recomendacion llega antes que la pregunta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148840"/>
            <a:ext cx="51206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5200" b="1" i="0">
                <a:solidFill>
                  <a:srgbClr val="502BD8"/>
                </a:solidFill>
                <a:latin typeface="Inter"/>
              </a:rPr>
              <a:t>&lt;800 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200400"/>
            <a:ext cx="5029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0" i="0">
                <a:solidFill>
                  <a:srgbClr val="6E6E6E"/>
                </a:solidFill>
                <a:latin typeface="Inter"/>
              </a:rPr>
              <a:t>de latencia — el sistema recomienda,</a:t>
            </a:r>
          </a:p>
          <a:p>
            <a:pPr algn="l">
              <a:lnSpc>
                <a:spcPct val="118000"/>
              </a:lnSpc>
            </a:pPr>
            <a:r>
              <a:rPr sz="1450" b="0" i="0">
                <a:solidFill>
                  <a:srgbClr val="6E6E6E"/>
                </a:solidFill>
                <a:latin typeface="Inter"/>
              </a:rPr>
              <a:t>el cliente decide.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0" y="2286000"/>
            <a:ext cx="557784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500" b="1">
                <a:solidFill>
                  <a:srgbClr val="502BD8"/>
                </a:solidFill>
                <a:latin typeface="Inter"/>
              </a:rPr>
              <a:t>—  </a:t>
            </a:r>
            <a:r>
              <a:rPr sz="1500">
                <a:solidFill>
                  <a:srgbClr val="222222"/>
                </a:solidFill>
                <a:latin typeface="Inter"/>
              </a:rPr>
              <a:t>El agente sugiere la combinacion optima de tarjeta, dia y descuento disponible en tiempo real.</a:t>
            </a:r>
          </a:p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500" b="1">
                <a:solidFill>
                  <a:srgbClr val="502BD8"/>
                </a:solidFill>
                <a:latin typeface="Inter"/>
              </a:rPr>
              <a:t>—  </a:t>
            </a:r>
            <a:r>
              <a:rPr sz="1500">
                <a:solidFill>
                  <a:srgbClr val="222222"/>
                </a:solidFill>
                <a:latin typeface="Inter"/>
              </a:rPr>
              <a:t>Cada vez que empuja el uso de la Tarjeta TCI, mejora la transaccion puntual y la calidad del dato de cliente a futuro.</a:t>
            </a:r>
          </a:p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500" b="1">
                <a:solidFill>
                  <a:srgbClr val="502BD8"/>
                </a:solidFill>
                <a:latin typeface="Inter"/>
              </a:rPr>
              <a:t>—  </a:t>
            </a:r>
            <a:r>
              <a:rPr sz="1500">
                <a:solidFill>
                  <a:srgbClr val="222222"/>
                </a:solidFill>
                <a:latin typeface="Inter"/>
              </a:rPr>
              <a:t>Es tambien el punto de contacto de mayor volumen (12M/mes) para migrar pagos hacia TCI.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 i="0">
                <a:solidFill>
                  <a:srgbClr val="6E6E6E"/>
                </a:solidFill>
                <a:latin typeface="Inter"/>
              </a:rPr>
              <a:t>COTO — Plataforma de fidelizacion  ·  La propuesta: experiencia de cliente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0" i="0">
                <a:solidFill>
                  <a:srgbClr val="6E6E6E"/>
                </a:solidFill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57200"/>
            <a:ext cx="2084831" cy="384048"/>
          </a:xfrm>
          <a:prstGeom prst="roundRect">
            <a:avLst>
              <a:gd name="adj" fmla="val 39682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100" b="0">
                <a:solidFill>
                  <a:srgbClr val="6E6E6E"/>
                </a:solidFill>
                <a:latin typeface="Inter"/>
              </a:rPr>
              <a:t>En caja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199" y="457200"/>
            <a:ext cx="2084831" cy="384048"/>
          </a:xfrm>
          <a:prstGeom prst="roundRect">
            <a:avLst>
              <a:gd name="adj" fmla="val 39682"/>
            </a:avLst>
          </a:prstGeom>
          <a:solidFill>
            <a:srgbClr val="502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Reclamo posventa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937758" y="457200"/>
            <a:ext cx="2084831" cy="384048"/>
          </a:xfrm>
          <a:prstGeom prst="roundRect">
            <a:avLst>
              <a:gd name="adj" fmla="val 39682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100" b="0">
                <a:solidFill>
                  <a:srgbClr val="6E6E6E"/>
                </a:solidFill>
                <a:latin typeface="Inter"/>
              </a:rPr>
              <a:t>Campanas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17" y="457200"/>
            <a:ext cx="2084831" cy="384048"/>
          </a:xfrm>
          <a:prstGeom prst="roundRect">
            <a:avLst>
              <a:gd name="adj" fmla="val 39682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100" b="0">
                <a:solidFill>
                  <a:srgbClr val="6E6E6E"/>
                </a:solidFill>
                <a:latin typeface="Inter"/>
              </a:rPr>
              <a:t>Coto Digital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326876" y="457200"/>
            <a:ext cx="2084831" cy="384048"/>
          </a:xfrm>
          <a:prstGeom prst="roundRect">
            <a:avLst>
              <a:gd name="adj" fmla="val 39682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100" b="0">
                <a:solidFill>
                  <a:srgbClr val="6E6E6E"/>
                </a:solidFill>
                <a:latin typeface="Inter"/>
              </a:rPr>
              <a:t>Redes sociales / WhatsApp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572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 i="0">
                <a:solidFill>
                  <a:srgbClr val="6E6E6E"/>
                </a:solidFill>
                <a:latin typeface="Inter"/>
              </a:rPr>
              <a:t>LA PROPUESTA  ·  2 DE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234440"/>
            <a:ext cx="1088136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500" b="1" i="0">
                <a:solidFill>
                  <a:srgbClr val="222222"/>
                </a:solidFill>
                <a:latin typeface="Inter"/>
              </a:rPr>
              <a:t>Reclamo posventa: de 8-15 minutos a resolucion inmediata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148840"/>
            <a:ext cx="51206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5200" b="1" i="0">
                <a:solidFill>
                  <a:srgbClr val="502BD8"/>
                </a:solidFill>
                <a:latin typeface="Inter"/>
              </a:rPr>
              <a:t>$3,50 → $0,40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200400"/>
            <a:ext cx="5029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0" i="0">
                <a:solidFill>
                  <a:srgbClr val="6E6E6E"/>
                </a:solidFill>
                <a:latin typeface="Inter"/>
              </a:rPr>
              <a:t>costo por ticket de soporte, USD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0" y="2286000"/>
            <a:ext cx="557784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500" b="1">
                <a:solidFill>
                  <a:srgbClr val="502BD8"/>
                </a:solidFill>
                <a:latin typeface="Inter"/>
              </a:rPr>
              <a:t>—  </a:t>
            </a:r>
            <a:r>
              <a:rPr sz="1500">
                <a:solidFill>
                  <a:srgbClr val="222222"/>
                </a:solidFill>
                <a:latin typeface="Inter"/>
              </a:rPr>
              <a:t>Casos rutinarios se resuelven de forma automatica, con un tope de $15.000 ARS.</a:t>
            </a:r>
          </a:p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500" b="1">
                <a:solidFill>
                  <a:srgbClr val="502BD8"/>
                </a:solidFill>
                <a:latin typeface="Inter"/>
              </a:rPr>
              <a:t>—  </a:t>
            </a:r>
            <a:r>
              <a:rPr sz="1500">
                <a:solidFill>
                  <a:srgbClr val="222222"/>
                </a:solidFill>
                <a:latin typeface="Inter"/>
              </a:rPr>
              <a:t>Por encima de ese monto, o ante duda, escala a una persona con todo el contexto ya recopilado.</a:t>
            </a:r>
          </a:p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500" b="1">
                <a:solidFill>
                  <a:srgbClr val="502BD8"/>
                </a:solidFill>
                <a:latin typeface="Inter"/>
              </a:rPr>
              <a:t>—  </a:t>
            </a:r>
            <a:r>
              <a:rPr sz="1500">
                <a:solidFill>
                  <a:srgbClr val="222222"/>
                </a:solidFill>
                <a:latin typeface="Inter"/>
              </a:rPr>
              <a:t>El cliente no repite su reclamo desde cero.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 i="0">
                <a:solidFill>
                  <a:srgbClr val="6E6E6E"/>
                </a:solidFill>
                <a:latin typeface="Inter"/>
              </a:rPr>
              <a:t>COTO — Plataforma de fidelizacion  ·  La propuesta: experiencia de cliente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0" i="0">
                <a:solidFill>
                  <a:srgbClr val="6E6E6E"/>
                </a:solidFill>
                <a:latin typeface="Inter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57200"/>
            <a:ext cx="2084831" cy="384048"/>
          </a:xfrm>
          <a:prstGeom prst="roundRect">
            <a:avLst>
              <a:gd name="adj" fmla="val 39682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100" b="0">
                <a:solidFill>
                  <a:srgbClr val="6E6E6E"/>
                </a:solidFill>
                <a:latin typeface="Inter"/>
              </a:rPr>
              <a:t>En caja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199" y="457200"/>
            <a:ext cx="2084831" cy="384048"/>
          </a:xfrm>
          <a:prstGeom prst="roundRect">
            <a:avLst>
              <a:gd name="adj" fmla="val 39682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100" b="0">
                <a:solidFill>
                  <a:srgbClr val="6E6E6E"/>
                </a:solidFill>
                <a:latin typeface="Inter"/>
              </a:rPr>
              <a:t>Reclamo posventa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937758" y="457200"/>
            <a:ext cx="2084831" cy="384048"/>
          </a:xfrm>
          <a:prstGeom prst="roundRect">
            <a:avLst>
              <a:gd name="adj" fmla="val 39682"/>
            </a:avLst>
          </a:prstGeom>
          <a:solidFill>
            <a:srgbClr val="502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Campanas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17" y="457200"/>
            <a:ext cx="2084831" cy="384048"/>
          </a:xfrm>
          <a:prstGeom prst="roundRect">
            <a:avLst>
              <a:gd name="adj" fmla="val 39682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100" b="0">
                <a:solidFill>
                  <a:srgbClr val="6E6E6E"/>
                </a:solidFill>
                <a:latin typeface="Inter"/>
              </a:rPr>
              <a:t>Coto Digital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326876" y="457200"/>
            <a:ext cx="2084831" cy="384048"/>
          </a:xfrm>
          <a:prstGeom prst="roundRect">
            <a:avLst>
              <a:gd name="adj" fmla="val 39682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100" b="0">
                <a:solidFill>
                  <a:srgbClr val="6E6E6E"/>
                </a:solidFill>
                <a:latin typeface="Inter"/>
              </a:rPr>
              <a:t>Redes sociales / WhatsApp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572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 i="0">
                <a:solidFill>
                  <a:srgbClr val="6E6E6E"/>
                </a:solidFill>
                <a:latin typeface="Inter"/>
              </a:rPr>
              <a:t>LA PROPUESTA  ·  3 DE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234440"/>
            <a:ext cx="1088136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500" b="1" i="0">
                <a:solidFill>
                  <a:srgbClr val="222222"/>
                </a:solidFill>
                <a:latin typeface="Inter"/>
              </a:rPr>
              <a:t>Campanas: de oferta generica a oferta por cliente, con aprobacion humana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148840"/>
            <a:ext cx="51206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5200" b="1" i="0">
                <a:solidFill>
                  <a:srgbClr val="502BD8"/>
                </a:solidFill>
                <a:latin typeface="Inter"/>
              </a:rPr>
              <a:t>3% → 12%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200400"/>
            <a:ext cx="5029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0" i="0">
                <a:solidFill>
                  <a:srgbClr val="6E6E6E"/>
                </a:solidFill>
                <a:latin typeface="Inter"/>
              </a:rPr>
              <a:t>tasa de redencion de cupones proyectada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0" y="2286000"/>
            <a:ext cx="557784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500" b="1">
                <a:solidFill>
                  <a:srgbClr val="502BD8"/>
                </a:solidFill>
                <a:latin typeface="Inter"/>
              </a:rPr>
              <a:t>—  </a:t>
            </a:r>
            <a:r>
              <a:rPr sz="1500">
                <a:solidFill>
                  <a:srgbClr val="222222"/>
                </a:solidFill>
                <a:latin typeface="Inter"/>
              </a:rPr>
              <a:t>Hoy: 4-8 horas armando cada campana manualmente, a $120 USD, con 20% de baja relevancia percibida.</a:t>
            </a:r>
          </a:p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500" b="1">
                <a:solidFill>
                  <a:srgbClr val="502BD8"/>
                </a:solidFill>
                <a:latin typeface="Inter"/>
              </a:rPr>
              <a:t>—  </a:t>
            </a:r>
            <a:r>
              <a:rPr sz="1500">
                <a:solidFill>
                  <a:srgbClr val="222222"/>
                </a:solidFill>
                <a:latin typeface="Inter"/>
              </a:rPr>
              <a:t>El agente arma la combinacion de oferta, segmento y canal para cada cliente.</a:t>
            </a:r>
          </a:p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500" b="1">
                <a:solidFill>
                  <a:srgbClr val="502BD8"/>
                </a:solidFill>
                <a:latin typeface="Inter"/>
              </a:rPr>
              <a:t>—  </a:t>
            </a:r>
            <a:r>
              <a:rPr sz="1500">
                <a:solidFill>
                  <a:srgbClr val="222222"/>
                </a:solidFill>
                <a:latin typeface="Inter"/>
              </a:rPr>
              <a:t>Un gerente de marketing aprueba el lote antes de salir — velocidad con supervision, no autonomia plena.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 i="0">
                <a:solidFill>
                  <a:srgbClr val="6E6E6E"/>
                </a:solidFill>
                <a:latin typeface="Inter"/>
              </a:rPr>
              <a:t>COTO — Plataforma de fidelizacion  ·  La propuesta: experiencia de cliente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0" i="0">
                <a:solidFill>
                  <a:srgbClr val="6E6E6E"/>
                </a:solidFill>
                <a:latin typeface="Inter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57200"/>
            <a:ext cx="2084831" cy="384048"/>
          </a:xfrm>
          <a:prstGeom prst="roundRect">
            <a:avLst>
              <a:gd name="adj" fmla="val 39682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100" b="0">
                <a:solidFill>
                  <a:srgbClr val="6E6E6E"/>
                </a:solidFill>
                <a:latin typeface="Inter"/>
              </a:rPr>
              <a:t>En caja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199" y="457200"/>
            <a:ext cx="2084831" cy="384048"/>
          </a:xfrm>
          <a:prstGeom prst="roundRect">
            <a:avLst>
              <a:gd name="adj" fmla="val 39682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100" b="0">
                <a:solidFill>
                  <a:srgbClr val="6E6E6E"/>
                </a:solidFill>
                <a:latin typeface="Inter"/>
              </a:rPr>
              <a:t>Reclamo posventa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937758" y="457200"/>
            <a:ext cx="2084831" cy="384048"/>
          </a:xfrm>
          <a:prstGeom prst="roundRect">
            <a:avLst>
              <a:gd name="adj" fmla="val 39682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100" b="0">
                <a:solidFill>
                  <a:srgbClr val="6E6E6E"/>
                </a:solidFill>
                <a:latin typeface="Inter"/>
              </a:rPr>
              <a:t>Campanas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17" y="457200"/>
            <a:ext cx="2084831" cy="384048"/>
          </a:xfrm>
          <a:prstGeom prst="roundRect">
            <a:avLst>
              <a:gd name="adj" fmla="val 39682"/>
            </a:avLst>
          </a:prstGeom>
          <a:solidFill>
            <a:srgbClr val="502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Coto Digital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326876" y="457200"/>
            <a:ext cx="2084831" cy="384048"/>
          </a:xfrm>
          <a:prstGeom prst="roundRect">
            <a:avLst>
              <a:gd name="adj" fmla="val 39682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100" b="0">
                <a:solidFill>
                  <a:srgbClr val="6E6E6E"/>
                </a:solidFill>
                <a:latin typeface="Inter"/>
              </a:rPr>
              <a:t>Redes sociales / WhatsApp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572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 i="0">
                <a:solidFill>
                  <a:srgbClr val="6E6E6E"/>
                </a:solidFill>
                <a:latin typeface="Inter"/>
              </a:rPr>
              <a:t>LA PROPUESTA  ·  4 DE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234440"/>
            <a:ext cx="1088136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500" b="1" i="0">
                <a:solidFill>
                  <a:srgbClr val="222222"/>
                </a:solidFill>
                <a:latin typeface="Inter"/>
              </a:rPr>
              <a:t>Coto Digital: canasta por presupuesto y sustitutos que el cliente acepta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148840"/>
            <a:ext cx="51206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5200" b="1" i="0">
                <a:solidFill>
                  <a:srgbClr val="502BD8"/>
                </a:solidFill>
                <a:latin typeface="Inter"/>
              </a:rPr>
              <a:t>&lt;500 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200400"/>
            <a:ext cx="5029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0" i="0">
                <a:solidFill>
                  <a:srgbClr val="6E6E6E"/>
                </a:solidFill>
                <a:latin typeface="Inter"/>
              </a:rPr>
              <a:t>para sugerir el sustituto con mayor</a:t>
            </a:r>
          </a:p>
          <a:p>
            <a:pPr algn="l">
              <a:lnSpc>
                <a:spcPct val="118000"/>
              </a:lnSpc>
            </a:pPr>
            <a:r>
              <a:rPr sz="1450" b="0" i="0">
                <a:solidFill>
                  <a:srgbClr val="6E6E6E"/>
                </a:solidFill>
                <a:latin typeface="Inter"/>
              </a:rPr>
              <a:t>probabilidad de aceptacion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0" y="2286000"/>
            <a:ext cx="557784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500" b="1">
                <a:solidFill>
                  <a:srgbClr val="502BD8"/>
                </a:solidFill>
                <a:latin typeface="Inter"/>
              </a:rPr>
              <a:t>—  </a:t>
            </a:r>
            <a:r>
              <a:rPr sz="1500">
                <a:solidFill>
                  <a:srgbClr val="222222"/>
                </a:solidFill>
                <a:latin typeface="Inter"/>
              </a:rPr>
              <a:t>El cliente arma su lista de compras dentro de un presupuesto que el mismo define.</a:t>
            </a:r>
          </a:p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500" b="1">
                <a:solidFill>
                  <a:srgbClr val="502BD8"/>
                </a:solidFill>
                <a:latin typeface="Inter"/>
              </a:rPr>
              <a:t>—  </a:t>
            </a:r>
            <a:r>
              <a:rPr sz="1500">
                <a:solidFill>
                  <a:srgbClr val="222222"/>
                </a:solidFill>
                <a:latin typeface="Inter"/>
              </a:rPr>
              <a:t>Si falta stock, el sistema sugiere el reemplazo mas coherente con su historial de compra.</a:t>
            </a:r>
          </a:p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500" b="1">
                <a:solidFill>
                  <a:srgbClr val="502BD8"/>
                </a:solidFill>
                <a:latin typeface="Inter"/>
              </a:rPr>
              <a:t>—  </a:t>
            </a:r>
            <a:r>
              <a:rPr sz="1500">
                <a:solidFill>
                  <a:srgbClr val="222222"/>
                </a:solidFill>
                <a:latin typeface="Inter"/>
              </a:rPr>
              <a:t>Reduce cancelaciones de pedidos online en aproximadamente 25%.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 i="0">
                <a:solidFill>
                  <a:srgbClr val="6E6E6E"/>
                </a:solidFill>
                <a:latin typeface="Inter"/>
              </a:rPr>
              <a:t>COTO — Plataforma de fidelizacion  ·  La propuesta: experiencia de cliente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0" i="0">
                <a:solidFill>
                  <a:srgbClr val="6E6E6E"/>
                </a:solidFill>
                <a:latin typeface="Inter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57200"/>
            <a:ext cx="2084831" cy="384048"/>
          </a:xfrm>
          <a:prstGeom prst="roundRect">
            <a:avLst>
              <a:gd name="adj" fmla="val 39682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100" b="0">
                <a:solidFill>
                  <a:srgbClr val="6E6E6E"/>
                </a:solidFill>
                <a:latin typeface="Inter"/>
              </a:rPr>
              <a:t>En caja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199" y="457200"/>
            <a:ext cx="2084831" cy="384048"/>
          </a:xfrm>
          <a:prstGeom prst="roundRect">
            <a:avLst>
              <a:gd name="adj" fmla="val 39682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100" b="0">
                <a:solidFill>
                  <a:srgbClr val="6E6E6E"/>
                </a:solidFill>
                <a:latin typeface="Inter"/>
              </a:rPr>
              <a:t>Reclamo posventa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937758" y="457200"/>
            <a:ext cx="2084831" cy="384048"/>
          </a:xfrm>
          <a:prstGeom prst="roundRect">
            <a:avLst>
              <a:gd name="adj" fmla="val 39682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100" b="0">
                <a:solidFill>
                  <a:srgbClr val="6E6E6E"/>
                </a:solidFill>
                <a:latin typeface="Inter"/>
              </a:rPr>
              <a:t>Campanas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17" y="457200"/>
            <a:ext cx="2084831" cy="384048"/>
          </a:xfrm>
          <a:prstGeom prst="roundRect">
            <a:avLst>
              <a:gd name="adj" fmla="val 39682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100" b="0">
                <a:solidFill>
                  <a:srgbClr val="6E6E6E"/>
                </a:solidFill>
                <a:latin typeface="Inter"/>
              </a:rPr>
              <a:t>Coto Digital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326876" y="457200"/>
            <a:ext cx="2084831" cy="384048"/>
          </a:xfrm>
          <a:prstGeom prst="roundRect">
            <a:avLst>
              <a:gd name="adj" fmla="val 39682"/>
            </a:avLst>
          </a:prstGeom>
          <a:solidFill>
            <a:srgbClr val="502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Redes sociales / WhatsApp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572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 i="0">
                <a:solidFill>
                  <a:srgbClr val="6E6E6E"/>
                </a:solidFill>
                <a:latin typeface="Inter"/>
              </a:rPr>
              <a:t>LA PROPUESTA  ·  5 DE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234440"/>
            <a:ext cx="1088136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500" b="1" i="0">
                <a:solidFill>
                  <a:srgbClr val="222222"/>
                </a:solidFill>
                <a:latin typeface="Inter"/>
              </a:rPr>
              <a:t>Redes sociales y WhatsApp: el mismo agente, un canal mas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286000"/>
            <a:ext cx="1088136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500" b="1">
                <a:solidFill>
                  <a:srgbClr val="502BD8"/>
                </a:solidFill>
                <a:latin typeface="Inter"/>
              </a:rPr>
              <a:t>—  </a:t>
            </a:r>
            <a:r>
              <a:rPr sz="1500">
                <a:solidFill>
                  <a:srgbClr val="222222"/>
                </a:solidFill>
                <a:latin typeface="Inter"/>
              </a:rPr>
              <a:t>Hoy WhatsApp es un canal de difusion unidireccional; un reclamo iniciado en redes se deriva al 0800 y el cliente lo repite.</a:t>
            </a:r>
          </a:p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500" b="1">
                <a:solidFill>
                  <a:srgbClr val="502BD8"/>
                </a:solidFill>
                <a:latin typeface="Inter"/>
              </a:rPr>
              <a:t>—  </a:t>
            </a:r>
            <a:r>
              <a:rPr sz="1500">
                <a:solidFill>
                  <a:srgbClr val="222222"/>
                </a:solidFill>
                <a:latin typeface="Inter"/>
              </a:rPr>
              <a:t>La propuesta no crea agentes nuevos: extiende los agentes de atencion y promociones como una interfaz adicional.</a:t>
            </a:r>
          </a:p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500" b="1">
                <a:solidFill>
                  <a:srgbClr val="502BD8"/>
                </a:solidFill>
                <a:latin typeface="Inter"/>
              </a:rPr>
              <a:t>—  </a:t>
            </a:r>
            <a:r>
              <a:rPr sz="1500">
                <a:solidFill>
                  <a:srgbClr val="222222"/>
                </a:solidFill>
                <a:latin typeface="Inter"/>
              </a:rPr>
              <a:t>Un clasificador liviano evita que el cliente tenga que re-explicar su problema en otro canal.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074920"/>
            <a:ext cx="10881360" cy="1143000"/>
          </a:xfrm>
          <a:prstGeom prst="roundRect">
            <a:avLst>
              <a:gd name="adj" fmla="val 6666"/>
            </a:avLst>
          </a:prstGeom>
          <a:solidFill>
            <a:srgbClr val="ECE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239512"/>
            <a:ext cx="10424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1">
                <a:solidFill>
                  <a:srgbClr val="222222"/>
                </a:solidFill>
                <a:latin typeface="Inter"/>
              </a:rPr>
              <a:t>No le asignamos un numero de retorno propio a este componente: todavia faltan datos publicos (volumen real de reclamos por redes, integracion interna existente) para hacerlo con responsabilidad.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 i="0">
                <a:solidFill>
                  <a:srgbClr val="6E6E6E"/>
                </a:solidFill>
                <a:latin typeface="Inter"/>
              </a:rPr>
              <a:t>COTO — Plataforma de fidelizacion  ·  La propuesta: experiencia de cliente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0" i="0">
                <a:solidFill>
                  <a:srgbClr val="6E6E6E"/>
                </a:solidFill>
                <a:latin typeface="Inter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 i="0">
                <a:solidFill>
                  <a:srgbClr val="502BD8"/>
                </a:solidFill>
                <a:latin typeface="Inter"/>
              </a:rPr>
              <a:t>LA INFRAESTRUCTURA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88136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22222"/>
                </a:solidFill>
                <a:latin typeface="Inter"/>
              </a:rPr>
              <a:t>Una unica plataforma de datos, no seis proyectos de IA sueltos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286000"/>
            <a:ext cx="1874519" cy="777240"/>
          </a:xfrm>
          <a:prstGeom prst="roundRect">
            <a:avLst>
              <a:gd name="adj" fmla="val 9803"/>
            </a:avLst>
          </a:prstGeom>
          <a:solidFill>
            <a:srgbClr val="FFFFFF"/>
          </a:solidFill>
          <a:ln w="9525">
            <a:solidFill>
              <a:srgbClr val="EDED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1792" y="2286000"/>
            <a:ext cx="1728215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</a:pPr>
            <a:r>
              <a:rPr sz="1250" b="1" i="0">
                <a:solidFill>
                  <a:srgbClr val="222222"/>
                </a:solidFill>
                <a:latin typeface="Inter"/>
              </a:rPr>
              <a:t>POS / Caja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87751" y="2286000"/>
            <a:ext cx="1874519" cy="777240"/>
          </a:xfrm>
          <a:prstGeom prst="roundRect">
            <a:avLst>
              <a:gd name="adj" fmla="val 9803"/>
            </a:avLst>
          </a:prstGeom>
          <a:solidFill>
            <a:srgbClr val="FFFFFF"/>
          </a:solidFill>
          <a:ln w="9525">
            <a:solidFill>
              <a:srgbClr val="EDED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660903" y="2286000"/>
            <a:ext cx="1728215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</a:pPr>
            <a:r>
              <a:rPr sz="1250" b="1" i="0">
                <a:solidFill>
                  <a:srgbClr val="222222"/>
                </a:solidFill>
                <a:latin typeface="Inter"/>
              </a:rPr>
              <a:t>Coto Digital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26862" y="2286000"/>
            <a:ext cx="1874519" cy="777240"/>
          </a:xfrm>
          <a:prstGeom prst="roundRect">
            <a:avLst>
              <a:gd name="adj" fmla="val 9803"/>
            </a:avLst>
          </a:prstGeom>
          <a:solidFill>
            <a:srgbClr val="FFFFFF"/>
          </a:solidFill>
          <a:ln w="9525">
            <a:solidFill>
              <a:srgbClr val="EDED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00014" y="2286000"/>
            <a:ext cx="1728215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</a:pPr>
            <a:r>
              <a:rPr sz="1250" b="1" i="0">
                <a:solidFill>
                  <a:srgbClr val="222222"/>
                </a:solidFill>
                <a:latin typeface="Inter"/>
              </a:rPr>
              <a:t>Core TCI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65973" y="2286000"/>
            <a:ext cx="1874519" cy="777240"/>
          </a:xfrm>
          <a:prstGeom prst="roundRect">
            <a:avLst>
              <a:gd name="adj" fmla="val 9803"/>
            </a:avLst>
          </a:prstGeom>
          <a:solidFill>
            <a:srgbClr val="FFFFFF"/>
          </a:solidFill>
          <a:ln w="9525">
            <a:solidFill>
              <a:srgbClr val="EDED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39125" y="2286000"/>
            <a:ext cx="1728215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</a:pPr>
            <a:r>
              <a:rPr sz="1250" b="1" i="0">
                <a:solidFill>
                  <a:srgbClr val="222222"/>
                </a:solidFill>
                <a:latin typeface="Inter"/>
              </a:rPr>
              <a:t>Stock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705084" y="2286000"/>
            <a:ext cx="1874519" cy="777240"/>
          </a:xfrm>
          <a:prstGeom prst="roundRect">
            <a:avLst>
              <a:gd name="adj" fmla="val 9803"/>
            </a:avLst>
          </a:prstGeom>
          <a:solidFill>
            <a:srgbClr val="FFFFFF"/>
          </a:solidFill>
          <a:ln w="9525">
            <a:solidFill>
              <a:srgbClr val="EDED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78236" y="2286000"/>
            <a:ext cx="1728215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</a:pPr>
            <a:r>
              <a:rPr sz="1250" b="1" i="0">
                <a:solidFill>
                  <a:srgbClr val="222222"/>
                </a:solidFill>
                <a:latin typeface="Inter"/>
              </a:rPr>
              <a:t>Redes sociales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24612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</a:pPr>
            <a:r>
              <a:rPr sz="1300" b="0" i="0">
                <a:solidFill>
                  <a:srgbClr val="6E6E6E"/>
                </a:solidFill>
                <a:latin typeface="Inter"/>
              </a:rPr>
              <a:t>convergen en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651760" y="3703320"/>
            <a:ext cx="6858000" cy="1051560"/>
          </a:xfrm>
          <a:prstGeom prst="roundRect">
            <a:avLst>
              <a:gd name="adj" fmla="val 7246"/>
            </a:avLst>
          </a:prstGeom>
          <a:solidFill>
            <a:srgbClr val="502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34640" y="3877056"/>
            <a:ext cx="64922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</a:pPr>
            <a:r>
              <a:rPr sz="1600" b="1" i="0">
                <a:solidFill>
                  <a:srgbClr val="FFFFFF"/>
                </a:solidFill>
                <a:latin typeface="Inter"/>
              </a:rPr>
              <a:t>Un orquestador de agentes + una unica capa de segmentacion RFM</a:t>
            </a:r>
          </a:p>
          <a:p>
            <a:pPr algn="ctr">
              <a:lnSpc>
                <a:spcPct val="118000"/>
              </a:lnSpc>
            </a:pPr>
            <a:r>
              <a:rPr sz="1600" b="1" i="0">
                <a:solidFill>
                  <a:srgbClr val="FFFFFF"/>
                </a:solidFill>
                <a:latin typeface="Inter"/>
              </a:rPr>
              <a:t>(recencia, frecuencia, monto)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120640"/>
            <a:ext cx="110642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450" b="1">
                <a:solidFill>
                  <a:srgbClr val="502BD8"/>
                </a:solidFill>
                <a:latin typeface="Inter"/>
              </a:rPr>
              <a:t>—  </a:t>
            </a:r>
            <a:r>
              <a:rPr sz="1450">
                <a:solidFill>
                  <a:srgbClr val="222222"/>
                </a:solidFill>
                <a:latin typeface="Inter"/>
              </a:rPr>
              <a:t>Es la respuesta directa al problema de apertura: el dato no se pierde por falta de tecnologia, se pierde porque las fuentes no se cruzan.</a:t>
            </a:r>
          </a:p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450" b="1">
                <a:solidFill>
                  <a:srgbClr val="502BD8"/>
                </a:solidFill>
                <a:latin typeface="Inter"/>
              </a:rPr>
              <a:t>—  </a:t>
            </a:r>
            <a:r>
              <a:rPr sz="1450">
                <a:solidFill>
                  <a:srgbClr val="222222"/>
                </a:solidFill>
                <a:latin typeface="Inter"/>
              </a:rPr>
              <a:t>No se lanza de una vez a toda la base — arranca en un piloto de 15.000 usuarios y escala en dos pasos mas (seccion siguiente).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 i="0">
                <a:solidFill>
                  <a:srgbClr val="6E6E6E"/>
                </a:solidFill>
                <a:latin typeface="Inter"/>
              </a:rPr>
              <a:t>COTO — Plataforma de fidelizacion  ·  La plataforma que lo hace posible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0" i="0">
                <a:solidFill>
                  <a:srgbClr val="6E6E6E"/>
                </a:solidFill>
                <a:latin typeface="Inter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 i="0">
                <a:solidFill>
                  <a:srgbClr val="502BD8"/>
                </a:solidFill>
                <a:latin typeface="Inter"/>
              </a:rPr>
              <a:t>CASO DE ROI  ·  1 DE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88136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 i="0">
                <a:solidFill>
                  <a:srgbClr val="222222"/>
                </a:solidFill>
                <a:latin typeface="Inter"/>
              </a:rPr>
              <a:t>Por que es necesario hacerlo, por que ahora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103120"/>
            <a:ext cx="5349240" cy="3611880"/>
          </a:xfrm>
          <a:prstGeom prst="roundRect">
            <a:avLst>
              <a:gd name="adj" fmla="val 2109"/>
            </a:avLst>
          </a:prstGeom>
          <a:solidFill>
            <a:srgbClr val="FFFFFF"/>
          </a:solidFill>
          <a:ln w="9525">
            <a:solidFill>
              <a:srgbClr val="EDED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33172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 i="0">
                <a:solidFill>
                  <a:srgbClr val="FA5D29"/>
                </a:solidFill>
                <a:latin typeface="Inter"/>
              </a:rPr>
              <a:t>COSTO DE NO HACERLO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788920"/>
            <a:ext cx="4709160" cy="2697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500" b="1">
                <a:solidFill>
                  <a:srgbClr val="FA5D29"/>
                </a:solidFill>
                <a:latin typeface="Inter"/>
              </a:rPr>
              <a:t>—  </a:t>
            </a:r>
            <a:r>
              <a:rPr sz="1500">
                <a:solidFill>
                  <a:srgbClr val="222222"/>
                </a:solidFill>
                <a:latin typeface="Inter"/>
              </a:rPr>
              <a:t>Cada mes sin la plataforma es un mes mas de dato de cliente que se genera y se pierde, sobre 12M transacciones.</a:t>
            </a:r>
          </a:p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500" b="1">
                <a:solidFill>
                  <a:srgbClr val="FA5D29"/>
                </a:solidFill>
                <a:latin typeface="Inter"/>
              </a:rPr>
              <a:t>—  </a:t>
            </a:r>
            <a:r>
              <a:rPr sz="1500">
                <a:solidFill>
                  <a:srgbClr val="222222"/>
                </a:solidFill>
                <a:latin typeface="Inter"/>
              </a:rPr>
              <a:t>45% de las ventas se paga hoy con tarjeta de un tercero: comision de 1,2%-1,8% + IVA que sale del grupo economico cada mes, con o sin proyecto.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80760" y="2103120"/>
            <a:ext cx="5559552" cy="3611880"/>
          </a:xfrm>
          <a:prstGeom prst="roundRect">
            <a:avLst>
              <a:gd name="adj" fmla="val 2109"/>
            </a:avLst>
          </a:prstGeom>
          <a:solidFill>
            <a:srgbClr val="FFFFFF"/>
          </a:solidFill>
          <a:ln w="9525">
            <a:solidFill>
              <a:srgbClr val="EDED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233172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 i="0">
                <a:solidFill>
                  <a:srgbClr val="502BD8"/>
                </a:solidFill>
                <a:latin typeface="Inter"/>
              </a:rPr>
              <a:t>POR QUE AHORA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788920"/>
            <a:ext cx="4892040" cy="2697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500" b="1">
                <a:solidFill>
                  <a:srgbClr val="502BD8"/>
                </a:solidFill>
                <a:latin typeface="Inter"/>
              </a:rPr>
              <a:t>—  </a:t>
            </a:r>
            <a:r>
              <a:rPr sz="1500">
                <a:solidFill>
                  <a:srgbClr val="222222"/>
                </a:solidFill>
                <a:latin typeface="Inter"/>
              </a:rPr>
              <a:t>La ventana frente a Carrefour y Cencosud se angosta cada trimestre.</a:t>
            </a:r>
          </a:p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500" b="1">
                <a:solidFill>
                  <a:srgbClr val="502BD8"/>
                </a:solidFill>
                <a:latin typeface="Inter"/>
              </a:rPr>
              <a:t>—  </a:t>
            </a:r>
            <a:r>
              <a:rPr sz="1500">
                <a:solidFill>
                  <a:srgbClr val="222222"/>
                </a:solidFill>
                <a:latin typeface="Inter"/>
              </a:rPr>
              <a:t>El activo para capturarla ya existe: la Tarjeta TCI retiene 100% del valor dentro del grupo — no hay que construir nada desde cero.</a:t>
            </a:r>
          </a:p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500" b="1">
                <a:solidFill>
                  <a:srgbClr val="502BD8"/>
                </a:solidFill>
                <a:latin typeface="Inter"/>
              </a:rPr>
              <a:t>—  </a:t>
            </a:r>
            <a:r>
              <a:rPr sz="1500">
                <a:solidFill>
                  <a:srgbClr val="222222"/>
                </a:solidFill>
                <a:latin typeface="Inter"/>
              </a:rPr>
              <a:t>Coto Digital ya lidera el e-commerce del sector: la inversion capitaliza infraestructura y base de clientes que la competencia no tiene en la misma escala.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 i="0">
                <a:solidFill>
                  <a:srgbClr val="6E6E6E"/>
                </a:solidFill>
                <a:latin typeface="Inter"/>
              </a:rPr>
              <a:t>COTO — Plataforma de fidelizacion  ·  Caso de ROI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0" i="0">
                <a:solidFill>
                  <a:srgbClr val="6E6E6E"/>
                </a:solidFill>
                <a:latin typeface="Inter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 i="0">
                <a:solidFill>
                  <a:srgbClr val="502BD8"/>
                </a:solidFill>
                <a:latin typeface="Inter"/>
              </a:rPr>
              <a:t>CASO DE ROI  ·  2 DE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88136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22222"/>
                </a:solidFill>
                <a:latin typeface="Inter"/>
              </a:rPr>
              <a:t>Trabajamos con un rango, no con un unico numero optimista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011680"/>
            <a:ext cx="11091672" cy="2724912"/>
          </a:xfrm>
          <a:prstGeom prst="roundRect">
            <a:avLst>
              <a:gd name="adj" fmla="val 1398"/>
            </a:avLst>
          </a:prstGeom>
          <a:solidFill>
            <a:srgbClr val="FFFFFF"/>
          </a:solidFill>
          <a:ln w="12700">
            <a:solidFill>
              <a:srgbClr val="EDED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2011680"/>
            <a:ext cx="11091672" cy="438912"/>
          </a:xfrm>
          <a:prstGeom prst="roundRect">
            <a:avLst>
              <a:gd name="adj" fmla="val 8680"/>
            </a:avLst>
          </a:prstGeom>
          <a:solidFill>
            <a:srgbClr val="2222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2412492"/>
            <a:ext cx="11091672" cy="38100"/>
          </a:xfrm>
          <a:prstGeom prst="rect">
            <a:avLst/>
          </a:prstGeom>
          <a:solidFill>
            <a:srgbClr val="2222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6656" y="2011680"/>
            <a:ext cx="4429335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 i="0">
                <a:solidFill>
                  <a:srgbClr val="FFFFFF"/>
                </a:solidFill>
                <a:latin typeface="Inter"/>
              </a:rPr>
              <a:t>Variable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7159" y="2011680"/>
            <a:ext cx="1952554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 i="0">
                <a:solidFill>
                  <a:srgbClr val="FFFFFF"/>
                </a:solidFill>
                <a:latin typeface="Inter"/>
              </a:rPr>
              <a:t>Conservador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60881" y="2011680"/>
            <a:ext cx="1952554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 i="0">
                <a:solidFill>
                  <a:srgbClr val="FFFFFF"/>
                </a:solidFill>
                <a:latin typeface="Inter"/>
              </a:rPr>
              <a:t>Base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14603" y="2011680"/>
            <a:ext cx="1952554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 i="0">
                <a:solidFill>
                  <a:srgbClr val="FFFFFF"/>
                </a:solidFill>
                <a:latin typeface="Inter"/>
              </a:rPr>
              <a:t>Optimista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450592"/>
            <a:ext cx="11091672" cy="9525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6" y="2450592"/>
            <a:ext cx="44293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0" i="0">
                <a:solidFill>
                  <a:srgbClr val="222222"/>
                </a:solidFill>
                <a:latin typeface="Inter"/>
              </a:rPr>
              <a:t>Tasa de adopcion (MAU / Comunidad COTO)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7159" y="2450592"/>
            <a:ext cx="195255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0" i="0">
                <a:solidFill>
                  <a:srgbClr val="222222"/>
                </a:solidFill>
                <a:latin typeface="Inter"/>
              </a:rPr>
              <a:t>10,0%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60881" y="2450592"/>
            <a:ext cx="195255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0" i="0">
                <a:solidFill>
                  <a:srgbClr val="222222"/>
                </a:solidFill>
                <a:latin typeface="Inter"/>
              </a:rPr>
              <a:t>18,0%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14603" y="2450592"/>
            <a:ext cx="195255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0" i="0">
                <a:solidFill>
                  <a:srgbClr val="222222"/>
                </a:solidFill>
                <a:latin typeface="Inter"/>
              </a:rPr>
              <a:t>28,0%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2907792"/>
            <a:ext cx="11091672" cy="457200"/>
          </a:xfrm>
          <a:prstGeom prst="rect">
            <a:avLst/>
          </a:prstGeom>
          <a:solidFill>
            <a:srgbClr val="F8F8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2907792"/>
            <a:ext cx="11091672" cy="9525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6656" y="2907792"/>
            <a:ext cx="44293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0" i="0">
                <a:solidFill>
                  <a:srgbClr val="222222"/>
                </a:solidFill>
                <a:latin typeface="Inter"/>
              </a:rPr>
              <a:t>Uplift de frecuencia de compra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7159" y="2907792"/>
            <a:ext cx="195255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0" i="0">
                <a:solidFill>
                  <a:srgbClr val="222222"/>
                </a:solidFill>
                <a:latin typeface="Inter"/>
              </a:rPr>
              <a:t>+2,0%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60881" y="2907792"/>
            <a:ext cx="195255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0" i="0">
                <a:solidFill>
                  <a:srgbClr val="222222"/>
                </a:solidFill>
                <a:latin typeface="Inter"/>
              </a:rPr>
              <a:t>+4,5%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14603" y="2907792"/>
            <a:ext cx="195255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0" i="0">
                <a:solidFill>
                  <a:srgbClr val="222222"/>
                </a:solidFill>
                <a:latin typeface="Inter"/>
              </a:rPr>
              <a:t>+7,0%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3364992"/>
            <a:ext cx="11091672" cy="9525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6656" y="3364992"/>
            <a:ext cx="44293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0" i="0">
                <a:solidFill>
                  <a:srgbClr val="222222"/>
                </a:solidFill>
                <a:latin typeface="Inter"/>
              </a:rPr>
              <a:t>Uplift de ticket promedio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7159" y="3364992"/>
            <a:ext cx="195255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0" i="0">
                <a:solidFill>
                  <a:srgbClr val="222222"/>
                </a:solidFill>
                <a:latin typeface="Inter"/>
              </a:rPr>
              <a:t>+1,5%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60881" y="3364992"/>
            <a:ext cx="195255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0" i="0">
                <a:solidFill>
                  <a:srgbClr val="222222"/>
                </a:solidFill>
                <a:latin typeface="Inter"/>
              </a:rPr>
              <a:t>+3,2%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14603" y="3364992"/>
            <a:ext cx="195255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0" i="0">
                <a:solidFill>
                  <a:srgbClr val="222222"/>
                </a:solidFill>
                <a:latin typeface="Inter"/>
              </a:rPr>
              <a:t>+5,0%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3822192"/>
            <a:ext cx="11091672" cy="457200"/>
          </a:xfrm>
          <a:prstGeom prst="rect">
            <a:avLst/>
          </a:prstGeom>
          <a:solidFill>
            <a:srgbClr val="F8F8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48640" y="3822192"/>
            <a:ext cx="11091672" cy="9525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6656" y="3822192"/>
            <a:ext cx="44293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0" i="0">
                <a:solidFill>
                  <a:srgbClr val="222222"/>
                </a:solidFill>
                <a:latin typeface="Inter"/>
              </a:rPr>
              <a:t>Autoservicio en reclamos (atencion)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7159" y="3822192"/>
            <a:ext cx="195255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0" i="0">
                <a:solidFill>
                  <a:srgbClr val="222222"/>
                </a:solidFill>
                <a:latin typeface="Inter"/>
              </a:rPr>
              <a:t>40,0%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60881" y="3822192"/>
            <a:ext cx="195255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0" i="0">
                <a:solidFill>
                  <a:srgbClr val="222222"/>
                </a:solidFill>
                <a:latin typeface="Inter"/>
              </a:rPr>
              <a:t>65,0%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14603" y="3822192"/>
            <a:ext cx="195255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0" i="0">
                <a:solidFill>
                  <a:srgbClr val="222222"/>
                </a:solidFill>
                <a:latin typeface="Inter"/>
              </a:rPr>
              <a:t>80,0%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4279392"/>
            <a:ext cx="11091672" cy="9525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76656" y="4279392"/>
            <a:ext cx="44293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0" i="0">
                <a:solidFill>
                  <a:srgbClr val="222222"/>
                </a:solidFill>
                <a:latin typeface="Inter"/>
              </a:rPr>
              <a:t>WACC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07159" y="4279392"/>
            <a:ext cx="195255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0" i="0">
                <a:solidFill>
                  <a:srgbClr val="222222"/>
                </a:solidFill>
                <a:latin typeface="Inter"/>
              </a:rPr>
              <a:t>16,0%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60881" y="4279392"/>
            <a:ext cx="195255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0" i="0">
                <a:solidFill>
                  <a:srgbClr val="222222"/>
                </a:solidFill>
                <a:latin typeface="Inter"/>
              </a:rPr>
              <a:t>12,0%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14603" y="4279392"/>
            <a:ext cx="195255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0" i="0">
                <a:solidFill>
                  <a:srgbClr val="222222"/>
                </a:solidFill>
                <a:latin typeface="Inter"/>
              </a:rPr>
              <a:t>10,0%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" y="4983480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0" i="1">
                <a:solidFill>
                  <a:srgbClr val="6E6E6E"/>
                </a:solidFill>
                <a:latin typeface="Inter"/>
              </a:rPr>
              <a:t>El escenario base asume 18% de adopcion sobre un padron de Comunidad COTO que hoy es un</a:t>
            </a:r>
          </a:p>
          <a:p>
            <a:pPr algn="l">
              <a:lnSpc>
                <a:spcPct val="118000"/>
              </a:lnSpc>
            </a:pPr>
            <a:r>
              <a:rPr sz="1450" b="0" i="1">
                <a:solidFill>
                  <a:srgbClr val="6E6E6E"/>
                </a:solidFill>
                <a:latin typeface="Inter"/>
              </a:rPr>
              <a:t>supuesto sin validar por la compania — por eso el pitch no se apoya en un solo numero (siguiente slide).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 i="0">
                <a:solidFill>
                  <a:srgbClr val="6E6E6E"/>
                </a:solidFill>
                <a:latin typeface="Inter"/>
              </a:rPr>
              <a:t>COTO — Plataforma de fidelizacion  ·  Caso de ROI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0" i="0">
                <a:solidFill>
                  <a:srgbClr val="6E6E6E"/>
                </a:solidFill>
                <a:latin typeface="Inter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 i="0">
                <a:solidFill>
                  <a:srgbClr val="502BD8"/>
                </a:solidFill>
                <a:latin typeface="Inter"/>
              </a:rPr>
              <a:t>CASO DE ROI  ·  3 DE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88136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500" b="1" i="0">
                <a:solidFill>
                  <a:srgbClr val="222222"/>
                </a:solidFill>
                <a:latin typeface="Inter"/>
              </a:rPr>
              <a:t>Incluso en el escenario mas adverso, el VAN se mantiene positivo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20240"/>
            <a:ext cx="7315200" cy="3438144"/>
          </a:xfrm>
          <a:prstGeom prst="roundRect">
            <a:avLst>
              <a:gd name="adj" fmla="val 1108"/>
            </a:avLst>
          </a:prstGeom>
          <a:solidFill>
            <a:srgbClr val="FFFFFF"/>
          </a:solidFill>
          <a:ln w="12700">
            <a:solidFill>
              <a:srgbClr val="EDED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920240"/>
            <a:ext cx="7315200" cy="420624"/>
          </a:xfrm>
          <a:prstGeom prst="roundRect">
            <a:avLst>
              <a:gd name="adj" fmla="val 9057"/>
            </a:avLst>
          </a:prstGeom>
          <a:solidFill>
            <a:srgbClr val="2222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2302764"/>
            <a:ext cx="7315200" cy="38100"/>
          </a:xfrm>
          <a:prstGeom prst="rect">
            <a:avLst/>
          </a:prstGeom>
          <a:solidFill>
            <a:srgbClr val="2222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6656" y="1920240"/>
            <a:ext cx="310247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 i="0">
                <a:solidFill>
                  <a:srgbClr val="FFFFFF"/>
                </a:solidFill>
                <a:latin typeface="Inter"/>
              </a:rPr>
              <a:t>Variacion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80294" y="1920240"/>
            <a:ext cx="1371993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 i="0">
                <a:solidFill>
                  <a:srgbClr val="FFFFFF"/>
                </a:solidFill>
                <a:latin typeface="Inter"/>
              </a:rPr>
              <a:t>VAN (USD)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53455" y="1920240"/>
            <a:ext cx="1057361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 i="0">
                <a:solidFill>
                  <a:srgbClr val="FFFFFF"/>
                </a:solidFill>
                <a:latin typeface="Inter"/>
              </a:rPr>
              <a:t>ROI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11984" y="1920240"/>
            <a:ext cx="97870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 i="0">
                <a:solidFill>
                  <a:srgbClr val="FFFFFF"/>
                </a:solidFill>
                <a:latin typeface="Inter"/>
              </a:rPr>
              <a:t>Riesgo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340864"/>
            <a:ext cx="7315200" cy="9525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6" y="2340864"/>
            <a:ext cx="310247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222222"/>
                </a:solidFill>
                <a:latin typeface="Inter"/>
              </a:rPr>
              <a:t>Caso base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80294" y="2340864"/>
            <a:ext cx="1371993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222222"/>
                </a:solidFill>
                <a:latin typeface="Inter"/>
              </a:rPr>
              <a:t>$5.241.800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53455" y="2340864"/>
            <a:ext cx="1057361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222222"/>
                </a:solidFill>
                <a:latin typeface="Inter"/>
              </a:rPr>
              <a:t>1.505,7%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11984" y="2340864"/>
            <a:ext cx="978702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222222"/>
                </a:solidFill>
                <a:latin typeface="Inter"/>
              </a:rPr>
              <a:t>Referencia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2843784"/>
            <a:ext cx="7315200" cy="502920"/>
          </a:xfrm>
          <a:prstGeom prst="rect">
            <a:avLst/>
          </a:prstGeom>
          <a:solidFill>
            <a:srgbClr val="F8F8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2843784"/>
            <a:ext cx="7315200" cy="9525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6656" y="2843784"/>
            <a:ext cx="310247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222222"/>
                </a:solidFill>
                <a:latin typeface="Inter"/>
              </a:rPr>
              <a:t>Costo IA/Cloud +50%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80294" y="2843784"/>
            <a:ext cx="1371993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222222"/>
                </a:solidFill>
                <a:latin typeface="Inter"/>
              </a:rPr>
              <a:t>$4.850.000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53455" y="2843784"/>
            <a:ext cx="1057361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222222"/>
                </a:solidFill>
                <a:latin typeface="Inter"/>
              </a:rPr>
              <a:t>1.380,0%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11984" y="2843784"/>
            <a:ext cx="978702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222222"/>
                </a:solidFill>
                <a:latin typeface="Inter"/>
              </a:rPr>
              <a:t>Bajo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3346704"/>
            <a:ext cx="7315200" cy="9525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6656" y="3346704"/>
            <a:ext cx="310247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222222"/>
                </a:solidFill>
                <a:latin typeface="Inter"/>
              </a:rPr>
              <a:t>Caida de adopcion −50% MAU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80294" y="3346704"/>
            <a:ext cx="1371993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222222"/>
                </a:solidFill>
                <a:latin typeface="Inter"/>
              </a:rPr>
              <a:t>$2.150.000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553455" y="3346704"/>
            <a:ext cx="1057361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222222"/>
                </a:solidFill>
                <a:latin typeface="Inter"/>
              </a:rPr>
              <a:t>620,0%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1984" y="3346704"/>
            <a:ext cx="978702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222222"/>
                </a:solidFill>
                <a:latin typeface="Inter"/>
              </a:rPr>
              <a:t>Medio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3849624"/>
            <a:ext cx="7315200" cy="502920"/>
          </a:xfrm>
          <a:prstGeom prst="rect">
            <a:avLst/>
          </a:prstGeom>
          <a:solidFill>
            <a:srgbClr val="F8F8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48640" y="3849624"/>
            <a:ext cx="7315200" cy="9525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6656" y="3849624"/>
            <a:ext cx="310247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222222"/>
                </a:solidFill>
                <a:latin typeface="Inter"/>
              </a:rPr>
              <a:t>Uplift de frecuencia −50%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80294" y="3849624"/>
            <a:ext cx="1371993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222222"/>
                </a:solidFill>
                <a:latin typeface="Inter"/>
              </a:rPr>
              <a:t>$3.100.000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553455" y="3849624"/>
            <a:ext cx="1057361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222222"/>
                </a:solidFill>
                <a:latin typeface="Inter"/>
              </a:rPr>
              <a:t>890,0%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1984" y="3849624"/>
            <a:ext cx="978702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222222"/>
                </a:solidFill>
                <a:latin typeface="Inter"/>
              </a:rPr>
              <a:t>Medio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4352544"/>
            <a:ext cx="7315200" cy="9525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76656" y="4352544"/>
            <a:ext cx="310247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222222"/>
                </a:solidFill>
                <a:latin typeface="Inter"/>
              </a:rPr>
              <a:t>Devaluacion ARS +50%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980294" y="4352544"/>
            <a:ext cx="1371993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222222"/>
                </a:solidFill>
                <a:latin typeface="Inter"/>
              </a:rPr>
              <a:t>$3.650.000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553455" y="4352544"/>
            <a:ext cx="1057361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222222"/>
                </a:solidFill>
                <a:latin typeface="Inter"/>
              </a:rPr>
              <a:t>1.050,0%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11984" y="4352544"/>
            <a:ext cx="978702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222222"/>
                </a:solidFill>
                <a:latin typeface="Inter"/>
              </a:rPr>
              <a:t>Alto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8640" y="4855464"/>
            <a:ext cx="7315200" cy="502920"/>
          </a:xfrm>
          <a:prstGeom prst="rect">
            <a:avLst/>
          </a:prstGeom>
          <a:solidFill>
            <a:srgbClr val="F8F8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48640" y="4855464"/>
            <a:ext cx="7315200" cy="9525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76656" y="4855464"/>
            <a:ext cx="310247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222222"/>
                </a:solidFill>
                <a:latin typeface="Inter"/>
              </a:rPr>
              <a:t>Falla integracion POS (retraso 3m)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980294" y="4855464"/>
            <a:ext cx="1371993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222222"/>
                </a:solidFill>
                <a:latin typeface="Inter"/>
              </a:rPr>
              <a:t>$4.200.000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553455" y="4855464"/>
            <a:ext cx="1057361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222222"/>
                </a:solidFill>
                <a:latin typeface="Inter"/>
              </a:rPr>
              <a:t>1.200,0%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11984" y="4855464"/>
            <a:ext cx="978702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222222"/>
                </a:solidFill>
                <a:latin typeface="Inter"/>
              </a:rPr>
              <a:t>Alto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092440" y="1920240"/>
            <a:ext cx="3547872" cy="4023360"/>
          </a:xfrm>
          <a:prstGeom prst="roundRect">
            <a:avLst>
              <a:gd name="adj" fmla="val 2147"/>
            </a:avLst>
          </a:prstGeom>
          <a:solidFill>
            <a:srgbClr val="FD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366760" y="2148840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 i="0">
                <a:solidFill>
                  <a:srgbClr val="FA5D29"/>
                </a:solidFill>
                <a:latin typeface="Inter"/>
              </a:rPr>
              <a:t>RIESGO PRINCIPAL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66760" y="2560320"/>
            <a:ext cx="30175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500" b="1" i="0">
                <a:solidFill>
                  <a:srgbClr val="FA5D29"/>
                </a:solidFill>
                <a:latin typeface="Inter"/>
              </a:rPr>
              <a:t>Adopcion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66760" y="3291840"/>
            <a:ext cx="306324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i="0">
                <a:solidFill>
                  <a:srgbClr val="222222"/>
                </a:solidFill>
                <a:latin typeface="Inter"/>
              </a:rPr>
              <a:t>No es tecnologico ni de costo de IA — ambos pesan poco en la sensibilidad.</a:t>
            </a:r>
          </a:p>
          <a:p>
            <a:pPr algn="l">
              <a:lnSpc>
                <a:spcPct val="118000"/>
              </a:lnSpc>
            </a:pPr>
            <a:r>
              <a:rPr sz="1300" b="0" i="0">
                <a:solidFill>
                  <a:srgbClr val="222222"/>
                </a:solidFill>
                <a:latin typeface="Inter"/>
              </a:rPr>
              <a:t/>
            </a:r>
          </a:p>
          <a:p>
            <a:pPr algn="l">
              <a:lnSpc>
                <a:spcPct val="118000"/>
              </a:lnSpc>
            </a:pPr>
            <a:r>
              <a:rPr sz="1300" b="0" i="0">
                <a:solidFill>
                  <a:srgbClr val="222222"/>
                </a:solidFill>
                <a:latin typeface="Inter"/>
              </a:rPr>
              <a:t>Depende del tamano real del padron de Comunidad COTO, hoy sin validar por la compania.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 i="0">
                <a:solidFill>
                  <a:srgbClr val="6E6E6E"/>
                </a:solidFill>
                <a:latin typeface="Inter"/>
              </a:rPr>
              <a:t>COTO — Plataforma de fidelizacion  ·  Caso de ROI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0" i="0">
                <a:solidFill>
                  <a:srgbClr val="6E6E6E"/>
                </a:solidFill>
                <a:latin typeface="Inter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 i="0">
                <a:solidFill>
                  <a:srgbClr val="502BD8"/>
                </a:solidFill>
                <a:latin typeface="Inter"/>
              </a:rPr>
              <a:t>CASO DE ROI  ·  4 DE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88136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500" b="1" i="0">
                <a:solidFill>
                  <a:srgbClr val="222222"/>
                </a:solidFill>
                <a:latin typeface="Inter"/>
              </a:rPr>
              <a:t>No pedimos el CAPEX completo hoy. Pedimos autorizar una Fase 0.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103120"/>
            <a:ext cx="3566160" cy="342900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9525">
            <a:solidFill>
              <a:srgbClr val="EDED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502920" cy="502920"/>
          </a:xfrm>
          <a:prstGeom prst="roundRect">
            <a:avLst>
              <a:gd name="adj" fmla="val 30303"/>
            </a:avLst>
          </a:prstGeom>
          <a:solidFill>
            <a:srgbClr val="502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377440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</a:pPr>
            <a:r>
              <a:rPr sz="2000" b="1" i="0">
                <a:solidFill>
                  <a:srgbClr val="FFFFFF"/>
                </a:solidFill>
                <a:latin typeface="Inter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063240"/>
            <a:ext cx="30175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600" b="1" i="0">
                <a:solidFill>
                  <a:srgbClr val="222222"/>
                </a:solidFill>
                <a:latin typeface="Inter"/>
              </a:rPr>
              <a:t>PoC de latencia POS-Cloud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840480"/>
            <a:ext cx="301752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6E6E6E"/>
                </a:solidFill>
                <a:latin typeface="Inter"/>
              </a:rPr>
              <a:t>Mide si una API agentica responde dentro de los &lt;800 ms que requiere la recomendacion en caja, desde un terminal POS real.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2103120"/>
            <a:ext cx="3566160" cy="342900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9525">
            <a:solidFill>
              <a:srgbClr val="EDED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72000" y="2377440"/>
            <a:ext cx="502920" cy="502920"/>
          </a:xfrm>
          <a:prstGeom prst="roundRect">
            <a:avLst>
              <a:gd name="adj" fmla="val 30303"/>
            </a:avLst>
          </a:prstGeom>
          <a:solidFill>
            <a:srgbClr val="502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2377440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</a:pPr>
            <a:r>
              <a:rPr sz="2000" b="1" i="0">
                <a:solidFill>
                  <a:srgbClr val="FFFFFF"/>
                </a:solidFill>
                <a:latin typeface="Inter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3063240"/>
            <a:ext cx="30175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600" b="1" i="0">
                <a:solidFill>
                  <a:srgbClr val="222222"/>
                </a:solidFill>
                <a:latin typeface="Inter"/>
              </a:rPr>
              <a:t>Piloto de WhatsApp con 5.000 socios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3840480"/>
            <a:ext cx="301752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6E6E6E"/>
                </a:solidFill>
                <a:latin typeface="Inter"/>
              </a:rPr>
              <a:t>Mide tasa de conversion e incremento de ticket real, para reemplazar el proxy de uplift por evidencia propia de COTO.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2103120"/>
            <a:ext cx="3566160" cy="342900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9525">
            <a:solidFill>
              <a:srgbClr val="EDED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321040" y="2377440"/>
            <a:ext cx="502920" cy="502920"/>
          </a:xfrm>
          <a:prstGeom prst="roundRect">
            <a:avLst>
              <a:gd name="adj" fmla="val 30303"/>
            </a:avLst>
          </a:prstGeom>
          <a:solidFill>
            <a:srgbClr val="502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2377440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</a:pPr>
            <a:r>
              <a:rPr sz="2000" b="1" i="0">
                <a:solidFill>
                  <a:srgbClr val="FFFFFF"/>
                </a:solidFill>
                <a:latin typeface="Inter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3063240"/>
            <a:ext cx="30175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600" b="1" i="0">
                <a:solidFill>
                  <a:srgbClr val="222222"/>
                </a:solidFill>
                <a:latin typeface="Inter"/>
              </a:rPr>
              <a:t>Benchmarking de cache de prompts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3840480"/>
            <a:ext cx="301752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6E6E6E"/>
                </a:solidFill>
                <a:latin typeface="Inter"/>
              </a:rPr>
              <a:t>Mide el % real de reutilizacion de contexto en RAG sobre el maestro de SKUs, para validar la estructura de costo de IA.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715000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0" i="1">
                <a:solidFill>
                  <a:srgbClr val="222222"/>
                </a:solidFill>
                <a:latin typeface="Inter"/>
              </a:rPr>
              <a:t>Bajo costo, alta informacion — disenados para reemplazar los supuestos mas importantes de este caso por evidencia propia de COTO.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 i="0">
                <a:solidFill>
                  <a:srgbClr val="6E6E6E"/>
                </a:solidFill>
                <a:latin typeface="Inter"/>
              </a:rPr>
              <a:t>COTO — Plataforma de fidelizacion  ·  Caso de ROI — Fase 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0" i="0">
                <a:solidFill>
                  <a:srgbClr val="6E6E6E"/>
                </a:solidFill>
                <a:latin typeface="Inter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 i="0">
                <a:solidFill>
                  <a:srgbClr val="502BD8"/>
                </a:solidFill>
                <a:latin typeface="Inter"/>
              </a:rPr>
              <a:t>PLAN DE IMPLEMENTACION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88136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22222"/>
                </a:solidFill>
                <a:latin typeface="Inter"/>
              </a:rPr>
              <a:t>Tres fases con gates de decision — no un lanzamiento unico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103120"/>
            <a:ext cx="2331720" cy="1600200"/>
          </a:xfrm>
          <a:prstGeom prst="roundRect">
            <a:avLst>
              <a:gd name="adj" fmla="val 4761"/>
            </a:avLst>
          </a:prstGeom>
          <a:solidFill>
            <a:srgbClr val="502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2267712"/>
            <a:ext cx="1965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 i="0">
                <a:solidFill>
                  <a:srgbClr val="DED6F5"/>
                </a:solidFill>
                <a:latin typeface="Inter"/>
              </a:rPr>
              <a:t>Fase 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2578608"/>
            <a:ext cx="1965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1" i="0">
                <a:solidFill>
                  <a:srgbClr val="FFFFFF"/>
                </a:solidFill>
                <a:latin typeface="Inter"/>
              </a:rPr>
              <a:t>Des-arriesgamiento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3108960"/>
            <a:ext cx="1965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DED6F5"/>
                </a:solidFill>
                <a:latin typeface="Inter"/>
              </a:rPr>
              <a:t>3 experimentos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935224" y="2697480"/>
            <a:ext cx="384048" cy="365760"/>
          </a:xfrm>
          <a:prstGeom prst="rightArrow">
            <a:avLst/>
          </a:prstGeom>
          <a:solidFill>
            <a:srgbClr val="502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383280" y="2103120"/>
            <a:ext cx="2331720" cy="1600200"/>
          </a:xfrm>
          <a:prstGeom prst="roundRect">
            <a:avLst>
              <a:gd name="adj" fmla="val 4761"/>
            </a:avLst>
          </a:prstGeom>
          <a:solidFill>
            <a:srgbClr val="FFFFFF"/>
          </a:solidFill>
          <a:ln w="9525">
            <a:solidFill>
              <a:srgbClr val="EDED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84448" y="2267712"/>
            <a:ext cx="1965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 i="0">
                <a:solidFill>
                  <a:srgbClr val="6E6E6E"/>
                </a:solidFill>
                <a:latin typeface="Inter"/>
              </a:rPr>
              <a:t>Fase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84448" y="2578608"/>
            <a:ext cx="1965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1" i="0">
                <a:solidFill>
                  <a:srgbClr val="222222"/>
                </a:solidFill>
                <a:latin typeface="Inter"/>
              </a:rPr>
              <a:t>Piloto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84448" y="3108960"/>
            <a:ext cx="1965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6E6E6E"/>
                </a:solidFill>
                <a:latin typeface="Inter"/>
              </a:rPr>
              <a:t>15.000 usuarios</a:t>
            </a:r>
          </a:p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6E6E6E"/>
                </a:solidFill>
                <a:latin typeface="Inter"/>
              </a:rPr>
              <a:t>CU-01 + CU-04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769864" y="2697480"/>
            <a:ext cx="384048" cy="365760"/>
          </a:xfrm>
          <a:prstGeom prst="rightArrow">
            <a:avLst/>
          </a:prstGeom>
          <a:solidFill>
            <a:srgbClr val="502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17920" y="2103120"/>
            <a:ext cx="2331720" cy="1600200"/>
          </a:xfrm>
          <a:prstGeom prst="roundRect">
            <a:avLst>
              <a:gd name="adj" fmla="val 4761"/>
            </a:avLst>
          </a:prstGeom>
          <a:solidFill>
            <a:srgbClr val="FFFFFF"/>
          </a:solidFill>
          <a:ln w="9525">
            <a:solidFill>
              <a:srgbClr val="EDED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2267712"/>
            <a:ext cx="1965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 i="0">
                <a:solidFill>
                  <a:srgbClr val="6E6E6E"/>
                </a:solidFill>
                <a:latin typeface="Inter"/>
              </a:rPr>
              <a:t>Fase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578608"/>
            <a:ext cx="1965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1" i="0">
                <a:solidFill>
                  <a:srgbClr val="222222"/>
                </a:solidFill>
                <a:latin typeface="Inter"/>
              </a:rPr>
              <a:t>Intermedio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9088" y="3108960"/>
            <a:ext cx="1965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6E6E6E"/>
                </a:solidFill>
                <a:latin typeface="Inter"/>
              </a:rPr>
              <a:t>350.000 usuarios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8604504" y="2697480"/>
            <a:ext cx="384048" cy="365760"/>
          </a:xfrm>
          <a:prstGeom prst="rightArrow">
            <a:avLst/>
          </a:prstGeom>
          <a:solidFill>
            <a:srgbClr val="502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052560" y="2103120"/>
            <a:ext cx="2331720" cy="1600200"/>
          </a:xfrm>
          <a:prstGeom prst="roundRect">
            <a:avLst>
              <a:gd name="adj" fmla="val 4761"/>
            </a:avLst>
          </a:prstGeom>
          <a:solidFill>
            <a:srgbClr val="FFFFFF"/>
          </a:solidFill>
          <a:ln w="9525">
            <a:solidFill>
              <a:srgbClr val="EDED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53728" y="2267712"/>
            <a:ext cx="1965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 i="0">
                <a:solidFill>
                  <a:srgbClr val="6E6E6E"/>
                </a:solidFill>
                <a:latin typeface="Inter"/>
              </a:rPr>
              <a:t>Fase 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53728" y="2578608"/>
            <a:ext cx="1965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1" i="0">
                <a:solidFill>
                  <a:srgbClr val="222222"/>
                </a:solidFill>
                <a:latin typeface="Inter"/>
              </a:rPr>
              <a:t>Escala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53728" y="3108960"/>
            <a:ext cx="1965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6E6E6E"/>
                </a:solidFill>
                <a:latin typeface="Inter"/>
              </a:rPr>
              <a:t>1.800.000 usuarios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069080"/>
            <a:ext cx="110642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450" b="1">
                <a:solidFill>
                  <a:srgbClr val="502BD8"/>
                </a:solidFill>
                <a:latin typeface="Inter"/>
              </a:rPr>
              <a:t>—  </a:t>
            </a:r>
            <a:r>
              <a:rPr sz="1450">
                <a:solidFill>
                  <a:srgbClr val="222222"/>
                </a:solidFill>
                <a:latin typeface="Inter"/>
              </a:rPr>
              <a:t>No es solo tecnologia: redefinir como se mide a Fonocoto (de volumen de llamadas a calidad de resolucion), redefinir el incentivo del gerente que aprueba campanas, y capacitar al personal de caja.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5257800"/>
            <a:ext cx="11064240" cy="960120"/>
          </a:xfrm>
          <a:prstGeom prst="roundRect">
            <a:avLst>
              <a:gd name="adj" fmla="val 7936"/>
            </a:avLst>
          </a:prstGeom>
          <a:solidFill>
            <a:srgbClr val="ECE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5422392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1">
                <a:solidFill>
                  <a:srgbClr val="222222"/>
                </a:solidFill>
                <a:latin typeface="Inter"/>
              </a:rPr>
              <a:t>Con transparencia: todavia no esta definido el dueno organizacional de cada rediseno de incentivo ni el cronograma exacto — es el siguiente paso de trabajo si el directorio da luz verde a la Fase 0.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 i="0">
                <a:solidFill>
                  <a:srgbClr val="6E6E6E"/>
                </a:solidFill>
                <a:latin typeface="Inter"/>
              </a:rPr>
              <a:t>COTO — Plataforma de fidelizacion  ·  Plan de implementacion y adopcion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0" i="0">
                <a:solidFill>
                  <a:srgbClr val="6E6E6E"/>
                </a:solidFill>
                <a:latin typeface="Inter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222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554480"/>
            <a:ext cx="107899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3200" b="1" i="0">
                <a:solidFill>
                  <a:srgbClr val="FFFFFF"/>
                </a:solidFill>
                <a:latin typeface="Inter"/>
              </a:rPr>
              <a:t>COTO no necesita entrar al retail digital.</a:t>
            </a:r>
          </a:p>
          <a:p>
            <a:pPr algn="l">
              <a:lnSpc>
                <a:spcPct val="118000"/>
              </a:lnSpc>
            </a:pPr>
            <a:r>
              <a:rPr sz="3200" b="1" i="0">
                <a:solidFill>
                  <a:srgbClr val="FFFFFF"/>
                </a:solidFill>
                <a:latin typeface="Inter"/>
              </a:rPr>
              <a:t>Ya lo lidera.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063240"/>
            <a:ext cx="100584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600" b="0" i="0">
                <a:solidFill>
                  <a:srgbClr val="AFAFAF"/>
                </a:solidFill>
                <a:latin typeface="Inter"/>
              </a:rPr>
              <a:t>Proponemos cerrar la brecha de datos que hoy impide que ese liderazgo se traduzca en</a:t>
            </a:r>
          </a:p>
          <a:p>
            <a:pPr algn="l">
              <a:lnSpc>
                <a:spcPct val="118000"/>
              </a:lnSpc>
            </a:pPr>
            <a:r>
              <a:rPr sz="1600" b="0" i="0">
                <a:solidFill>
                  <a:srgbClr val="AFAFAF"/>
                </a:solidFill>
                <a:latin typeface="Inter"/>
              </a:rPr>
              <a:t>conocimiento del cliente y en retencion de margen financiero — antes de que la ventana</a:t>
            </a:r>
          </a:p>
          <a:p>
            <a:pPr algn="l">
              <a:lnSpc>
                <a:spcPct val="118000"/>
              </a:lnSpc>
            </a:pPr>
            <a:r>
              <a:rPr sz="1600" b="0" i="0">
                <a:solidFill>
                  <a:srgbClr val="AFAFAF"/>
                </a:solidFill>
                <a:latin typeface="Inter"/>
              </a:rPr>
              <a:t>frente a Carrefour y Cencosud se siga cerrando.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4572000"/>
            <a:ext cx="10789920" cy="1417320"/>
          </a:xfrm>
          <a:prstGeom prst="roundRect">
            <a:avLst>
              <a:gd name="adj" fmla="val 5376"/>
            </a:avLst>
          </a:prstGeom>
          <a:solidFill>
            <a:srgbClr val="332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4773168"/>
            <a:ext cx="10149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 i="0">
                <a:solidFill>
                  <a:srgbClr val="C4B6EC"/>
                </a:solidFill>
                <a:latin typeface="Inter"/>
              </a:rPr>
              <a:t>LO QUE PEDIMOS HOY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5138928"/>
            <a:ext cx="101498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i="0">
                <a:solidFill>
                  <a:srgbClr val="FFFFFF"/>
                </a:solidFill>
                <a:latin typeface="Inter"/>
              </a:rPr>
              <a:t>Autorizar la Fase 0: tres experimentos de bajo costo y alta informacion, disenados para reemplazar los supuestos mas importantes de este caso —empezando por el padron real de Comunidad COTO— por evidencia propia de COTO.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 i="0">
                <a:solidFill>
                  <a:srgbClr val="AFAFAF"/>
                </a:solidFill>
                <a:latin typeface="Inter"/>
              </a:rPr>
              <a:t>COTO — Plataforma de fidelizacion  ·  Cierre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0" i="0">
                <a:solidFill>
                  <a:srgbClr val="AFAFAF"/>
                </a:solidFill>
                <a:latin typeface="Inter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 i="0">
                <a:solidFill>
                  <a:srgbClr val="502BD8"/>
                </a:solidFill>
                <a:latin typeface="Inter"/>
              </a:rPr>
              <a:t>ANEXO  ·  PARA LA DEFENSA ORAL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88136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 i="0">
                <a:solidFill>
                  <a:srgbClr val="222222"/>
                </a:solidFill>
                <a:latin typeface="Inter"/>
              </a:rPr>
              <a:t>Panorama competitivo completo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65960"/>
            <a:ext cx="11091672" cy="3712464"/>
          </a:xfrm>
          <a:prstGeom prst="roundRect">
            <a:avLst>
              <a:gd name="adj" fmla="val 1026"/>
            </a:avLst>
          </a:prstGeom>
          <a:solidFill>
            <a:srgbClr val="FFFFFF"/>
          </a:solidFill>
          <a:ln w="12700">
            <a:solidFill>
              <a:srgbClr val="EDED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965960"/>
            <a:ext cx="11091672" cy="420624"/>
          </a:xfrm>
          <a:prstGeom prst="roundRect">
            <a:avLst>
              <a:gd name="adj" fmla="val 9057"/>
            </a:avLst>
          </a:prstGeom>
          <a:solidFill>
            <a:srgbClr val="2222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2348484"/>
            <a:ext cx="11091672" cy="38100"/>
          </a:xfrm>
          <a:prstGeom prst="rect">
            <a:avLst/>
          </a:prstGeom>
          <a:solidFill>
            <a:srgbClr val="2222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6656" y="1965960"/>
            <a:ext cx="27249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 i="0">
                <a:solidFill>
                  <a:srgbClr val="FFFFFF"/>
                </a:solidFill>
                <a:latin typeface="Inter"/>
              </a:rPr>
              <a:t>Cadena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02736" y="1965960"/>
            <a:ext cx="117043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 i="0">
                <a:solidFill>
                  <a:srgbClr val="FFFFFF"/>
                </a:solidFill>
                <a:latin typeface="Inter"/>
              </a:rPr>
              <a:t>Share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74336" y="1965960"/>
            <a:ext cx="65928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 i="0">
                <a:solidFill>
                  <a:srgbClr val="FFFFFF"/>
                </a:solidFill>
                <a:latin typeface="Inter"/>
              </a:rPr>
              <a:t>Programa / billetera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386584"/>
            <a:ext cx="11091672" cy="9525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6656" y="2386584"/>
            <a:ext cx="2724912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222222"/>
                </a:solidFill>
                <a:latin typeface="Inter"/>
              </a:rPr>
              <a:t>COTO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02736" y="2386584"/>
            <a:ext cx="1170432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222222"/>
                </a:solidFill>
                <a:latin typeface="Inter"/>
              </a:rPr>
              <a:t>22,3%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74336" y="2386584"/>
            <a:ext cx="659282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222222"/>
                </a:solidFill>
                <a:latin typeface="Inter"/>
              </a:rPr>
              <a:t>Comunidad COTO + Tarjeta TCI — sin billetera digital propia (usa Mercado Pago)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935224"/>
            <a:ext cx="11091672" cy="548640"/>
          </a:xfrm>
          <a:prstGeom prst="rect">
            <a:avLst/>
          </a:prstGeom>
          <a:solidFill>
            <a:srgbClr val="F8F8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2935224"/>
            <a:ext cx="11091672" cy="9525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6656" y="2935224"/>
            <a:ext cx="2724912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222222"/>
                </a:solidFill>
                <a:latin typeface="Inter"/>
              </a:rPr>
              <a:t>Carrefour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02736" y="2935224"/>
            <a:ext cx="1170432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222222"/>
                </a:solidFill>
                <a:latin typeface="Inter"/>
              </a:rPr>
              <a:t>21,0%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74336" y="2935224"/>
            <a:ext cx="659282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222222"/>
                </a:solidFill>
                <a:latin typeface="Inter"/>
              </a:rPr>
              <a:t>Mi Carrefour + Cuenta Digital Mi Carrefour (set. 2025, 43% TNA, banco propio)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3483864"/>
            <a:ext cx="11091672" cy="9525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6656" y="3483864"/>
            <a:ext cx="2724912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222222"/>
                </a:solidFill>
                <a:latin typeface="Inter"/>
              </a:rPr>
              <a:t>Cencosud (Jumbo/Disco/Vea)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02736" y="3483864"/>
            <a:ext cx="1170432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222222"/>
                </a:solidFill>
                <a:latin typeface="Inter"/>
              </a:rPr>
              <a:t>17,0%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74336" y="3483864"/>
            <a:ext cx="659282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222222"/>
                </a:solidFill>
                <a:latin typeface="Inter"/>
              </a:rPr>
              <a:t>Jumbo Mas (puntos) + CencoPay (2% cashback diario, desde 2023)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4032504"/>
            <a:ext cx="11091672" cy="548640"/>
          </a:xfrm>
          <a:prstGeom prst="rect">
            <a:avLst/>
          </a:prstGeom>
          <a:solidFill>
            <a:srgbClr val="F8F8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8640" y="4032504"/>
            <a:ext cx="11091672" cy="9525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6656" y="4032504"/>
            <a:ext cx="2724912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222222"/>
                </a:solidFill>
                <a:latin typeface="Inter"/>
              </a:rPr>
              <a:t>La Anonima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02736" y="4032504"/>
            <a:ext cx="1170432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222222"/>
                </a:solidFill>
                <a:latin typeface="Inter"/>
              </a:rPr>
              <a:t>12,5%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74336" y="4032504"/>
            <a:ext cx="659282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222222"/>
                </a:solidFill>
                <a:latin typeface="Inter"/>
              </a:rPr>
              <a:t>Plus La Anonima — cupones personalizados, sin wallet propia confirmada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4581144"/>
            <a:ext cx="11091672" cy="9525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6656" y="4581144"/>
            <a:ext cx="2724912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222222"/>
                </a:solidFill>
                <a:latin typeface="Inter"/>
              </a:rPr>
              <a:t>Dia Argentina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02736" y="4581144"/>
            <a:ext cx="1170432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222222"/>
                </a:solidFill>
                <a:latin typeface="Inter"/>
              </a:rPr>
              <a:t>9,0%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74336" y="4581144"/>
            <a:ext cx="659282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222222"/>
                </a:solidFill>
                <a:latin typeface="Inter"/>
              </a:rPr>
              <a:t>ClubDia — ~3,9-4M socios, 20% descuento los martes, sin wallet propia confirmada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5129784"/>
            <a:ext cx="11091672" cy="548640"/>
          </a:xfrm>
          <a:prstGeom prst="rect">
            <a:avLst/>
          </a:prstGeom>
          <a:solidFill>
            <a:srgbClr val="F8F8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8640" y="5129784"/>
            <a:ext cx="11091672" cy="9525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76656" y="5129784"/>
            <a:ext cx="2724912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222222"/>
                </a:solidFill>
                <a:latin typeface="Inter"/>
              </a:rPr>
              <a:t>Changomas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02736" y="5129784"/>
            <a:ext cx="1170432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222222"/>
                </a:solidFill>
                <a:latin typeface="Inter"/>
              </a:rPr>
              <a:t>8,7%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974336" y="5129784"/>
            <a:ext cx="659282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222222"/>
                </a:solidFill>
                <a:latin typeface="Inter"/>
              </a:rPr>
              <a:t>MasClub (PuntosMas) — usa Cuenta DNI de Banco Provincia (tercero), sin wallet propia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 i="0">
                <a:solidFill>
                  <a:srgbClr val="6E6E6E"/>
                </a:solidFill>
                <a:latin typeface="Inter"/>
              </a:rPr>
              <a:t>COTO — Plataforma de fidelizacion  ·  Anexo — competidores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0" i="0">
                <a:solidFill>
                  <a:srgbClr val="6E6E6E"/>
                </a:solidFill>
                <a:latin typeface="Inter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 i="0">
                <a:solidFill>
                  <a:srgbClr val="502BD8"/>
                </a:solidFill>
                <a:latin typeface="Inter"/>
              </a:rPr>
              <a:t>ANEXO  ·  PARA LA DEFENSA ORAL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88136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 i="0">
                <a:solidFill>
                  <a:srgbClr val="222222"/>
                </a:solidFill>
                <a:latin typeface="Inter"/>
              </a:rPr>
              <a:t>Los 6 casos de uso agenticos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65960"/>
            <a:ext cx="11091672" cy="3712464"/>
          </a:xfrm>
          <a:prstGeom prst="roundRect">
            <a:avLst>
              <a:gd name="adj" fmla="val 1026"/>
            </a:avLst>
          </a:prstGeom>
          <a:solidFill>
            <a:srgbClr val="FFFFFF"/>
          </a:solidFill>
          <a:ln w="12700">
            <a:solidFill>
              <a:srgbClr val="EDED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965960"/>
            <a:ext cx="11091672" cy="420624"/>
          </a:xfrm>
          <a:prstGeom prst="roundRect">
            <a:avLst>
              <a:gd name="adj" fmla="val 9057"/>
            </a:avLst>
          </a:prstGeom>
          <a:solidFill>
            <a:srgbClr val="2222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2348484"/>
            <a:ext cx="11091672" cy="38100"/>
          </a:xfrm>
          <a:prstGeom prst="rect">
            <a:avLst/>
          </a:prstGeom>
          <a:solidFill>
            <a:srgbClr val="2222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6656" y="1965960"/>
            <a:ext cx="373075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 i="0">
                <a:solidFill>
                  <a:srgbClr val="FFFFFF"/>
                </a:solidFill>
                <a:latin typeface="Inter"/>
              </a:rPr>
              <a:t>Caso de uso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08576" y="1965960"/>
            <a:ext cx="245059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 i="0">
                <a:solidFill>
                  <a:srgbClr val="FFFFFF"/>
                </a:solidFill>
                <a:latin typeface="Inter"/>
              </a:rPr>
              <a:t>Autonomia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0336" y="1965960"/>
            <a:ext cx="13533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 i="0">
                <a:solidFill>
                  <a:srgbClr val="FFFFFF"/>
                </a:solidFill>
                <a:latin typeface="Inter"/>
              </a:rPr>
              <a:t>Latencia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14816" y="1965960"/>
            <a:ext cx="275234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 i="0">
                <a:solidFill>
                  <a:srgbClr val="FFFFFF"/>
                </a:solidFill>
                <a:latin typeface="Inter"/>
              </a:rPr>
              <a:t>Valor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386584"/>
            <a:ext cx="11091672" cy="9525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6" y="2386584"/>
            <a:ext cx="3730752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222222"/>
                </a:solidFill>
                <a:latin typeface="Inter"/>
              </a:rPr>
              <a:t>CU-01 — Promociones y medio de pago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08576" y="2386584"/>
            <a:ext cx="2450592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222222"/>
                </a:solidFill>
                <a:latin typeface="Inter"/>
              </a:rPr>
              <a:t>Nivel 2 (recomendacion)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60336" y="2386584"/>
            <a:ext cx="1353312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222222"/>
                </a:solidFill>
                <a:latin typeface="Inter"/>
              </a:rPr>
              <a:t>&lt;800 ms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14816" y="2386584"/>
            <a:ext cx="275234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222222"/>
                </a:solidFill>
                <a:latin typeface="Inter"/>
              </a:rPr>
              <a:t>Muy alto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2935224"/>
            <a:ext cx="11091672" cy="548640"/>
          </a:xfrm>
          <a:prstGeom prst="rect">
            <a:avLst/>
          </a:prstGeom>
          <a:solidFill>
            <a:srgbClr val="F8F8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2935224"/>
            <a:ext cx="11091672" cy="9525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6656" y="2935224"/>
            <a:ext cx="3730752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222222"/>
                </a:solidFill>
                <a:latin typeface="Inter"/>
              </a:rPr>
              <a:t>CU-02 — Canasta por presupuesto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08576" y="2935224"/>
            <a:ext cx="2450592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222222"/>
                </a:solidFill>
                <a:latin typeface="Inter"/>
              </a:rPr>
              <a:t>Nivel 3 (ejec. aprobada)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60336" y="2935224"/>
            <a:ext cx="1353312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222222"/>
                </a:solidFill>
                <a:latin typeface="Inter"/>
              </a:rPr>
              <a:t>&lt;2.000 ms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14816" y="2935224"/>
            <a:ext cx="275234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222222"/>
                </a:solidFill>
                <a:latin typeface="Inter"/>
              </a:rPr>
              <a:t>Alto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3483864"/>
            <a:ext cx="11091672" cy="9525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6656" y="3483864"/>
            <a:ext cx="3730752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222222"/>
                </a:solidFill>
                <a:latin typeface="Inter"/>
              </a:rPr>
              <a:t>CU-03 — Sustituciones en e-commerce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08576" y="3483864"/>
            <a:ext cx="2450592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222222"/>
                </a:solidFill>
                <a:latin typeface="Inter"/>
              </a:rPr>
              <a:t>Nivel 3 (ejec. aprobada)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60336" y="3483864"/>
            <a:ext cx="1353312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222222"/>
                </a:solidFill>
                <a:latin typeface="Inter"/>
              </a:rPr>
              <a:t>&lt;500 ms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14816" y="3483864"/>
            <a:ext cx="275234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222222"/>
                </a:solidFill>
                <a:latin typeface="Inter"/>
              </a:rPr>
              <a:t>Alto (−25% cancel.)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4032504"/>
            <a:ext cx="11091672" cy="548640"/>
          </a:xfrm>
          <a:prstGeom prst="rect">
            <a:avLst/>
          </a:prstGeom>
          <a:solidFill>
            <a:srgbClr val="F8F8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48640" y="4032504"/>
            <a:ext cx="11091672" cy="9525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6656" y="4032504"/>
            <a:ext cx="3730752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222222"/>
                </a:solidFill>
                <a:latin typeface="Inter"/>
              </a:rPr>
              <a:t>CU-04 — Reclamos posventa (hasta $15.000)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08576" y="4032504"/>
            <a:ext cx="2450592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222222"/>
                </a:solidFill>
                <a:latin typeface="Inter"/>
              </a:rPr>
              <a:t>Nivel 4 (autonomia limit.)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60336" y="4032504"/>
            <a:ext cx="1353312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222222"/>
                </a:solidFill>
                <a:latin typeface="Inter"/>
              </a:rPr>
              <a:t>&lt;1.500 ms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14816" y="4032504"/>
            <a:ext cx="275234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222222"/>
                </a:solidFill>
                <a:latin typeface="Inter"/>
              </a:rPr>
              <a:t>Muy alto ($3,50→$0,40)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4581144"/>
            <a:ext cx="11091672" cy="9525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76656" y="4581144"/>
            <a:ext cx="3730752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222222"/>
                </a:solidFill>
                <a:latin typeface="Inter"/>
              </a:rPr>
              <a:t>CU-05 — Campanas hiper-personalizadas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08576" y="4581144"/>
            <a:ext cx="2450592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222222"/>
                </a:solidFill>
                <a:latin typeface="Inter"/>
              </a:rPr>
              <a:t>Nivel 3 (ejec. aprobada)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60336" y="4581144"/>
            <a:ext cx="1353312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222222"/>
                </a:solidFill>
                <a:latin typeface="Inter"/>
              </a:rPr>
              <a:t>Asincrono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14816" y="4581144"/>
            <a:ext cx="275234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222222"/>
                </a:solidFill>
                <a:latin typeface="Inter"/>
              </a:rPr>
              <a:t>Muy alto (3%→12%)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8640" y="5129784"/>
            <a:ext cx="11091672" cy="548640"/>
          </a:xfrm>
          <a:prstGeom prst="rect">
            <a:avLst/>
          </a:prstGeom>
          <a:solidFill>
            <a:srgbClr val="F8F8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48640" y="5129784"/>
            <a:ext cx="11091672" cy="9525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76656" y="5129784"/>
            <a:ext cx="3730752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222222"/>
                </a:solidFill>
                <a:latin typeface="Inter"/>
              </a:rPr>
              <a:t>CU-06 — Asistente conversacional TCI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08576" y="5129784"/>
            <a:ext cx="2450592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222222"/>
                </a:solidFill>
                <a:latin typeface="Inter"/>
              </a:rPr>
              <a:t>Nivel 2 (recomendacion)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260336" y="5129784"/>
            <a:ext cx="1353312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222222"/>
                </a:solidFill>
                <a:latin typeface="Inter"/>
              </a:rPr>
              <a:t>&lt;1.000 ms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814816" y="5129784"/>
            <a:ext cx="275234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222222"/>
                </a:solidFill>
                <a:latin typeface="Inter"/>
              </a:rPr>
              <a:t>Medio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8640" y="612648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 i="1">
                <a:solidFill>
                  <a:srgbClr val="6E6E6E"/>
                </a:solidFill>
                <a:latin typeface="Inter"/>
              </a:rPr>
              <a:t>Escala de autonomia 0-5 segun el dossier de factibilidad; ningun caso de uso alcanza Nivel 5 (autonomia total).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 i="0">
                <a:solidFill>
                  <a:srgbClr val="6E6E6E"/>
                </a:solidFill>
                <a:latin typeface="Inter"/>
              </a:rPr>
              <a:t>COTO — Plataforma de fidelizacion  ·  Anexo — casos de uso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0" i="0">
                <a:solidFill>
                  <a:srgbClr val="6E6E6E"/>
                </a:solidFill>
                <a:latin typeface="Inter"/>
              </a:rPr>
              <a:t>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