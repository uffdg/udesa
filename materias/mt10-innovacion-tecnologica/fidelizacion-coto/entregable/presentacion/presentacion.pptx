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Plataforma de fidelización COTO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31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Plan de negocios e implementación tecnológica de una solución de datos y agentes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8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MT10 — Innovación Tecnológica · Presentación a CFO / CEO / CMO · 10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85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Mariana Fiorillo · Andres Franco · Diego Pouton · Luciano Suarez · Agustin Trucco · Emma Vignoles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Maestría en Gestión de Servicios Tecnológicos y de Telecomunicaciones — UdeSA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9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Probá el prototipo en tu celular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COTO lidera el mercado y lidera el e-commerce del sector. El problema no es digital.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799999"/>
            <a:ext cx="1080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12.000.000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77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transacciones presenciales por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429998"/>
            <a:ext cx="1080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COTO: 22,3% de participación de mercado — el líder del sector.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663998"/>
            <a:ext cx="1080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Coto Digital lidera el e-commerce de supermercados en Argentina.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897998"/>
            <a:ext cx="1080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El cliente que compra en salón sin identificarse queda invisible para segmentación, campañas y atención personalizada.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3329998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de las transacciones presenciales pierden trazabilidad de cliente: se cierran sin DNI ni carnet de Comunidad COTO.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El problema 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POR QUÉ AHORA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COTO es el único de los dos líderes de mercado sin billetera digital propia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799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Cadena  |  Participación  |  Billetera digital propia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01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COTO  |  22,3%  |  No — paga a un tercero (Mercado Pago) por pagos digitales en caja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88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Carrefour  |  21,0%  |  Sí — Cuenta Digital Mi Carrefour (lanzada sept.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5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Cencosud (Jumbo / Disco / Vea)  |  17,0%  |  Sí — CencoPay, cashback diario (desde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7611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Carrefour lanzó su wallet hace menos de un año y ya está en fase agresiva de adquisición de usuarios.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9951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Cencosud opera dos mecanismos de fidelización en paralelo (puntos + CencoPay) desde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2291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La ventana para entrar sin quedar tercero en la categoría sigue abierta, pero se angosta cada trimestre.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Panorama competitivo 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En caja  ·  Reclamo posventa  ·  Campañas  ·  Coto Digital  ·  Redes sociales /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LA PROPUESTA · 1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En caja: la recomendación llega antes que la 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El agente sugiere la combinación óptima de tarjeta, día y descuento disponible en tiempo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25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Cada vez que empuja el uso de la Tarjeta TCI, mejora la transacción puntual y la calidad del dato de cliente a futuro.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15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Es también el punto de contacto de mayor volumen (12M/mes) para migrar pagos hacia TCI.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9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de latencia — el sistema recomienda, el cliente decide.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La propuesta: experiencia de cliente 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En caja  ·  Reclamo posventa  ·  Campañas  ·  Coto Digital  ·  Redes sociales /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LA PROPUESTA · 2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Reclamo posventa: de 8-15 minutos a resolución inmediata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Casos rutinarios se resuelven de forma automática, con un tope de $15.000 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25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Por encima de ese monto, o ante duda, escala a una persona con todo el contexto ya recopilado.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15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El cliente no repite su reclamo desde cero.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9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costo por ticket de soporte, 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La propuesta: experiencia de cliente 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En caja  ·  Reclamo posventa  ·  Campañas  ·  Coto Digital  ·  Redes sociales /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LA PROPUESTA · 3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Campañas: de oferta genérica a oferta por cliente, con aprobación humana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7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Hoy: 4-8 horas armando cada campaña manualmente, a $120 USD, con 20% de baja relevancia percibida.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213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El agente arma la combinación de oferta, segmento y canal para cada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447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Un gerente de marketing aprueba el lote antes de salir — velocidad con supervisión, no autonomía plena.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681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tasa de redención de cupones proyectada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La propuesta: experiencia de cliente 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En caja  ·  Reclamo posventa  ·  Campañas  ·  Coto Digital  ·  Redes sociales /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LA PROPUESTA · 4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Coto Digital: canasta por presupuesto y sustitutos que el cliente acepta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7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El cliente arma su lista de compras dentro de un presupuesto que él mismo define.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213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Si falta stock, el sistema sugiere el reemplazo más coherente con su historial de compra.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447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Reduce cancelaciones de pedidos online en aproximadamente 25%.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681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para sugerir el sustituto con mayor probabilidad de aceptación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La propuesta: experiencia de cliente 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En caja  ·  Reclamo posventa  ·  Campañas  ·  Coto Digital  ·  Redes sociales /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LA PROPUESTA · 5 DE 5 · OMNICANALIDAD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Redes sociales y WhatsApp: omnicanalidad con el mismo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88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Hoy WhatsApp es un canal de difusión unidireccional; un reclamo iniciado en redes se deriva al 0800 y el cliente lo repite.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3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La propuesta no crea agentes nuevos: extiende los agentes de atención y promociones como una interfaz adicional.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57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Un clasificador liviano evita que el cliente tenga que re-explicar su problema en otro canal — mismo contexto, cualquier punto de contacto: eso es omnicanalidad.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La propuesta: experiencia de cliente 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LA INFRAESTRUCTURA · BIG DATA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Una única plataforma de datos, no seis proyectos de IA sueltos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1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6E"/>
                </a:solidFill>
                <a:latin typeface="Calibri"/>
              </a:rPr>
              <a:t>POS / Caja  →  Coto Digital  →  Core TCI  →  Stock  →  Redes sociales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763998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90012"/>
                </a:solidFill>
                <a:latin typeface="Calibri"/>
              </a:rPr>
              <a:t>▼ convergen 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43998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Un orquestador de agentes + una capa de Big Data para segmentación RFM y Data Analytics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39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Es la respuesta directa al problema de apertura: el dato no se pierde por falta de tecnología, se pierde porque las fuentes no se cruzan.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573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No se lanza de una vez a toda la base — arranca en un piloto de 15.000 usuarios y escala en dos pasos más.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La plataforma que lo hace posible 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1. Por qué / ahora  ·  2. Rango  ·  3. Sensibilidad  ·  4. Fase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CASO DE ROI · 1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Por qué es necesario hacerlo, por qué ahora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53586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0012"/>
                </a:solidFill>
                <a:latin typeface="Calibri"/>
              </a:rPr>
              <a:t>Costo de no hacerlo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57599"/>
            <a:ext cx="535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Cada mes sin la plataforma es un mes más de dato de cliente que se genera y se pierde, sobre 12M transacciones.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91599"/>
            <a:ext cx="535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45% de las ventas se paga hoy con tarjeta de un tercero: comisión de 1,2%-1,8% + IVA que sale del grupo económico cada mes, con o sin proyecto.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600" y="1691999"/>
            <a:ext cx="53586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0012"/>
                </a:solidFill>
                <a:latin typeface="Calibri"/>
              </a:rPr>
              <a:t>Por qué 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600" y="1857599"/>
            <a:ext cx="535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La ventana frente a Carrefour y Cencosud se angosta cada trimestre.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600" y="2091599"/>
            <a:ext cx="535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El activo para capturarla ya existe: la Tarjeta TCI retiene 100% del valor dentro del grupo — no hay que construir nada desde cero.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600" y="2325599"/>
            <a:ext cx="5358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Coto Digital ya lidera el e-commerce del sector: la inversión capitaliza infraestructura que la competencia no tiene en la misma escala.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Caso de ROI 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1. Por qué / ahora  ·  2. Rango  ·  3. Sensibilidad  ·  4. Fase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CASO DE ROI · 2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Trabajamos con un rango, no con un único número optimista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Variable  |  Conservador  |  Base  |  Optimista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9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Tasa de adopción (MAU / Comunidad COTO)  |  10,0%  |  18,0%  |  28,0%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Uplift de frecuencia de compra  |  +2,0%  |  +4,5%  |  +7,0%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6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Uplift de ticket promedio  |  +1,5%  |  +3,2%  |  +5,0%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55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Autoservicio en reclamos (atención)  |  40,0%  |  65,0%  |  80,0%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6423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WACC  |  16,0%  |  12,0%  |  10,0%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0275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El escenario base asume 18% de adopción sobre un padrón de Comunidad COTO que hoy es un supuesto sin validar por la compañía — por eso el pitch no se apoya en un solo número (siguiente slide).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Caso de ROI 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1. Por qué / ahora  ·  2. Rango  ·  3. Sensibilidad  ·  4. Fase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CASO DE ROI · 3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Incluso en el escenario más adverso, el VAN se mantiene positivo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Variación  |  VAN (USD)  |  ROI  | 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9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Caso base  |  $5.241.800  |  1.505,7%  |  Referencia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Costo IA/Cloud +50%  |  $4.850.000  |  1.380,0%  |  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6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Caída de adopción −50% MAU  |  $2.150.000  |  620,0%  |  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55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Uplift de frecuencia −50%  |  $3.100.000  |  890,0%  |  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6423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Devaluación ARS +50%  |  $3.650.000  |  1.050,0%  | 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829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Falla integración POS (retraso 3m)  |  $4.200.000  |  1.200,0%  |  Alto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214799"/>
            <a:ext cx="108072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0012"/>
                </a:solidFill>
                <a:latin typeface="Calibri"/>
              </a:rPr>
              <a:t>Riesgo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3803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 es tecnológico ni de costo de IA — ambos pesan poco en la sensibilidad. Depende del tamaño real del padrón de Comunidad COTO, hoy sin validar por la compañía.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Caso de ROI 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1. Por qué / ahora  ·  2. Rango  ·  3. Sensibilidad  ·  4. Fase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CASO DE ROI · 4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No pedimos el CAPEX completo hoy. Pedimos autorizar una Fase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3524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1. PoC de latencia POS-Cloud
Mide si una API agéntica responde dentro de los &lt;800 ms que requiere la recomendación en caja, desde un terminal POS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0400" y="1691999"/>
            <a:ext cx="3524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2. Piloto de WhatsApp con 5.000 socios
Mide tasa de conversión e incremento de ticket real, para reemplazar el proxy de uplift por evidencia propia de COTO.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2800" y="1691999"/>
            <a:ext cx="3524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3. Benchmarking de caché de prompts
Mide el % real de reutilización de contexto en RAG sobre el maestro de SKUs, para validar la estructura de costo de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6279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Bajo costo, alta información — diseñados para reemplazar los supuestos más importantes de este caso por evidencia propia de COTO.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Caso de ROI — Fase 0 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PLAN DE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Tres fases con gates de decisión — no un lanzamiento único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1999"/>
            <a:ext cx="108972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0012"/>
                </a:solidFill>
                <a:latin typeface="Calibri"/>
              </a:rPr>
              <a:t>Fases: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7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FASE 0 | Des-arriesgamiento | 3 experimentos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2300" y="167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FASE 1 | Piloto | 15.000 usuarios CU-01 + CU-04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600" y="167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FASE 2 | Intermedio | 350.000 usuarios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900" y="167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FASE 3 | Escala | 1.800.000 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65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No es solo tecnología: redefinir cómo se mide a Fonocoto (de volumen de llamadas a calidad de resolución), redefinir el incentivo del gerente que aprueba campañas, y capacitar al personal de caja.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Plan de implementación y adopción 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77"/>
                </a:solidFill>
                <a:latin typeface="Calibri"/>
              </a:rPr>
              <a:t>LO QUE PEDIMOS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COTO no necesita entrar al retail digital. Ya lo lidera.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19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Proponemos cerrar la brecha de datos que hoy impide que ese liderazgo se traduzca en conocimiento del cliente y en retención de margen financiero — antes de que la ventana frente a Carrefour y Cencosud se siga cerrando.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799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Autorizar la Fase 0: tres experimentos de bajo costo y alta información, diseñados para reemplazar los supuestos más importantes de este caso —empezando por el padrón real de Comunidad COTO— por evidencia propia de COTO.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Cierre 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Competidores  · 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ANEXO · PARA LA DEFENSA 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Panorama competitivo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Cadena  |  Share  |  Programa / billetera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9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COTO  |  22,3%  |  Comunidad COTO + Tarjeta TCI — sin billetera digital propia (usa Mercado Pago)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Carrefour  |  21,0%  |  Mi Carrefour + Cuenta Digital Mi Carrefour (set. 2025, 43% TNA, banco propio)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6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Cencosud (Jumbo/Disco/Vea)  |  17,0%  |  Jumbo Más (puntos) + CencoPay (2% cashback diario, desde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55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La Anónima  |  12,5%  |  Plus La Anónima — cupones personalizados, sin wallet propia confirmada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6423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Día Argentina  |  9,0%  |  ClubDia — ~3,9-4M socios, 20% descuento los martes, sin wallet propia confirmada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829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Changomás  |  8,7%  |  MásClub (PuntosMás) — usa Cuenta DNI de Banco Provincia (tercero), sin wallet propia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Anexo — competidores 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Competidores  · 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ANEXO · PARA LA DEFENSA 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Los 6 casos de uso agénticos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Caso de uso  |  Autonomía  |  Latencia  | 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9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CU-01 — Promociones y medio de pago  |  Nivel 2 (recomendación)  |  &lt;800 ms  |  Muy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CU-02 — Canasta por presupuesto  |  Nivel 3 (ejec. aprobada)  |  &lt;2.000 ms  |  Alto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6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CU-03 — Sustituciones en e-commerce  |  Nivel 3 (ejec. aprobada)  |  &lt;500 ms  |  Alto (−25% cancel.)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55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CU-04 — Reclamos posventa (hasta $15.000)  |  Nivel 4 (autonomía limit.)  |  &lt;1.500 ms  |  Muy alto ($3,50→$0,40)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6423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CU-05 — Campañas hiper-personalizadas  |  Nivel 3 (ejec. aprobada)  |  Asíncrono  |  Muy alto (3%→12%)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829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CU-06 — Asistente conversacional TCI  |  Nivel 2 (recomendación)  |  &lt;1.000 ms  |  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2147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Escala de autonomía 0-5 según el dossier de factibilidad; ningún caso de uso alcanza Nivel 5 (autonomía total).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 — Plataforma de fidelización · Anexo — casos de uso 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