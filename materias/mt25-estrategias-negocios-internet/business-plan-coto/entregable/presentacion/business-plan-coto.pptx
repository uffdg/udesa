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explícito: el documento final no tiene datos reales del equipo todavía — no se inventan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Abierto: no hay fuente que confirme quién financia hoy los reintegros de MP/MODO en sucursales COTO.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33172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Inter"/>
              </a:rPr>
              <a:t>Wallet COTO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AFAFAF"/>
                </a:solidFill>
                <a:latin typeface="Inter"/>
              </a:rPr>
              <a:t>Nombre de trabajo — naming final pendiente de decisión de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9A8FC9"/>
                </a:solidFill>
                <a:latin typeface="Inter"/>
              </a:rPr>
              <a:t>MT25 — Estrategias de Negocios en Internet  ·  Pitch a inversores (profesores)  ·  15 min + 10'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8A8A8A"/>
                </a:solidFill>
                <a:latin typeface="Inter"/>
              </a:rPr>
              <a:t>Equipo del TP — Maestría en Gestión de Servicios Tecnológicos y de Telecomunicaciones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A8A8A"/>
                </a:solidFill>
                <a:latin typeface="Inter"/>
              </a:rPr>
              <a:t>Wallet COTO  ·  Portada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A8A8A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QUIÉNES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 i="0">
                <a:solidFill>
                  <a:srgbClr val="6E6E6E"/>
                </a:solidFill>
                <a:latin typeface="Inter"/>
              </a:rPr>
              <a:t>PENDIENTE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163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Espacio reservado para foto, nombre y background de cada integrante.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EC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El equipo debe completar esta sección con los datos reales de cada integrante antes de la entrega — no se inventan nombres ni backgrounds.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PROPÓSITO DE LA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Por qué existe Wallet COTO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1">
                <a:solidFill>
                  <a:srgbClr val="502BD8"/>
                </a:solidFill>
                <a:latin typeface="Inter"/>
              </a:rPr>
              <a:t>“Construir la relación directa de pago, datos y fidelización que hoy COTO no tiene con sus propios clientes — porque hoy esa relación la construyen Mercado Pago y MODO, cada vez que un cliente paga digital en una sucursal COTO.”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E6E6E"/>
                </a:solidFill>
                <a:latin typeface="Inter"/>
              </a:rPr>
              <a:t>HOY, ESA RELACIÓN LA CONSTRUYEN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834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 i="0">
                <a:solidFill>
                  <a:srgbClr val="6E6E6E"/>
                </a:solidFill>
                <a:latin typeface="Inter"/>
              </a:rPr>
              <a:t>Mercado Pago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49834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 i="0">
                <a:solidFill>
                  <a:srgbClr val="6E6E6E"/>
                </a:solidFill>
                <a:latin typeface="Inter"/>
              </a:rPr>
              <a:t>MODO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Propósito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No es un problema de aceptar pagos digitales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502BD8"/>
                </a:solidFill>
                <a:latin typeface="Inter"/>
              </a:rPr>
              <a:t>20-30%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79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reintegro que ofrece MODO en sucursales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COTO desde may. 2024 — acumulable con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ofertas propias de COTO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6858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450" b="1" i="0">
                <a:solidFill>
                  <a:srgbClr val="222222"/>
                </a:solidFill>
                <a:latin typeface="Inter"/>
              </a:rPr>
              <a:t>Mercado Pago acepta QR en COTO desde 2020, con descuentos.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450" b="1" i="0">
                <a:solidFill>
                  <a:srgbClr val="222222"/>
                </a:solidFill>
                <a:latin typeface="Inter"/>
              </a:rPr>
              <a:t>MODO renovó alianza en mayo 2024 — reintegros 20-30%.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450" b="1" i="0">
                <a:solidFill>
                  <a:srgbClr val="222222"/>
                </a:solidFill>
                <a:latin typeface="Inter"/>
              </a:rPr>
              <a:t>BBVA (ene. 2025): las alianzas de MODO con Coto y Día duplicaron su volumen en supermercados durante 2024.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450" b="1" i="0">
                <a:solidFill>
                  <a:srgbClr val="222222"/>
                </a:solidFill>
                <a:latin typeface="Inter"/>
              </a:rPr>
              <a:t>Lo que COTO pierde al procesar ese pago vía terceros:</a:t>
            </a:r>
          </a:p>
          <a:p>
            <a:pPr lvl="1">
              <a:spcAft>
                <a:spcPts val="7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250" b="0" i="0">
                <a:solidFill>
                  <a:srgbClr val="222222"/>
                </a:solidFill>
                <a:latin typeface="Inter"/>
              </a:rPr>
              <a:t>Datos de primera parte incompletos</a:t>
            </a:r>
          </a:p>
          <a:p>
            <a:pPr lvl="1">
              <a:spcAft>
                <a:spcPts val="7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250" b="0" i="0">
                <a:solidFill>
                  <a:srgbClr val="222222"/>
                </a:solidFill>
                <a:latin typeface="Inter"/>
              </a:rPr>
              <a:t>Fidelización cedida a la marca del tercero, no a COTO</a:t>
            </a:r>
          </a:p>
          <a:p>
            <a:pPr lvl="1">
              <a:spcAft>
                <a:spcPts val="7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250" b="0" i="0">
                <a:solidFill>
                  <a:srgbClr val="222222"/>
                </a:solidFill>
                <a:latin typeface="Inter"/>
              </a:rPr>
              <a:t>Cero control del calendario promocional del propio checkout</a:t>
            </a:r>
          </a:p>
          <a:p>
            <a:pPr lvl="1">
              <a:spcAft>
                <a:spcPts val="7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250" b="0" i="0">
                <a:solidFill>
                  <a:srgbClr val="222222"/>
                </a:solidFill>
                <a:latin typeface="Inter"/>
              </a:rPr>
              <a:t>Dependencia de reglas ajenas (MP/MODO/bancos)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2888"/>
            <a:ext cx="10881360" cy="594360"/>
          </a:xfrm>
          <a:prstGeom prst="roundRect">
            <a:avLst>
              <a:gd name="adj" fmla="val 10000"/>
            </a:avLst>
          </a:prstGeom>
          <a:solidFill>
            <a:srgbClr val="EC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Apuesta central (supuesto del equipo): ni MP, ni MODO, ni Ualá ven el historial de compra real de supermercado — solo el movimiento de dinero.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El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La wallet que conoce tu historial real de compra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550" b="1" i="0">
                <a:solidFill>
                  <a:srgbClr val="222222"/>
                </a:solidFill>
                <a:latin typeface="Inter"/>
              </a:rPr>
              <a:t>No compite como “banco digital más chico” — sin licencia bancaria ni track record fintech.</a:t>
            </a:r>
          </a:p>
          <a:p>
            <a:pPr>
              <a:spcAft>
                <a:spcPts val="1000"/>
              </a:spcAft>
            </a:pPr>
            <a:r>
              <a:rPr sz="15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550" b="1" i="0">
                <a:solidFill>
                  <a:srgbClr val="222222"/>
                </a:solidFill>
                <a:latin typeface="Inter"/>
              </a:rPr>
              <a:t>Compite como la wallet que mejor conoce el historial de compra real de supermercado del cliente.</a:t>
            </a:r>
          </a:p>
          <a:p>
            <a:pPr>
              <a:spcAft>
                <a:spcPts val="1000"/>
              </a:spcAft>
            </a:pPr>
            <a:r>
              <a:rPr sz="15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550" b="1" i="0">
                <a:solidFill>
                  <a:srgbClr val="222222"/>
                </a:solidFill>
                <a:latin typeface="Inter"/>
              </a:rPr>
              <a:t>Diferenciadores clave: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12032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4040632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Beneficios personalizados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5264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Por historial real de compra — no un % genérico por rubro, como Cuenta DNI.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3812032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79" y="4040632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Fidelización integrada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4525264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Dentro del mismo instrumento de pago, sin tarjeta aparte.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20791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Límite honesto: no resuelve por qué dejar de usar MP/MODO — resuelve por qué sumar Wallet COTO además. Sin inversión, crédito ni IA generativa en esta fase.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Solución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5 pantallas núcleo + roadmap de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Onboarding simplificado, sin costo de apertura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Home con beneficios calculados sobre historial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Pagar en caja — QR propio (Transferencias 3.0), un tap: paga + aplica beneficio + suma puntos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Beneficios con reglas fijas y visibles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Recompra rápida integrada con Coto Digital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4419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3779011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DED6F5"/>
                </a:solidFill>
                <a:latin typeface="Inter"/>
              </a:rPr>
              <a:t>Año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089907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Inter"/>
              </a:rPr>
              <a:t>Piloto CABA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620259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DED6F5"/>
                </a:solidFill>
                <a:latin typeface="Inter"/>
              </a:rPr>
              <a:t>15-20 suc. → 100% CABA</a:t>
            </a:r>
          </a:p>
          <a:p>
            <a:r>
              <a:rPr sz="1200" b="0" i="0">
                <a:solidFill>
                  <a:srgbClr val="DED6F5"/>
                </a:solidFill>
                <a:latin typeface="Inter"/>
              </a:rPr>
              <a:t>59% de la red · 5% del SAM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23944" y="4277359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614419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3779011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E6E6E"/>
                </a:solidFill>
                <a:latin typeface="Inter"/>
              </a:rPr>
              <a:t>Año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4089907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Inter"/>
              </a:rPr>
              <a:t>+ GBA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620259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E6E6E"/>
                </a:solidFill>
                <a:latin typeface="Inter"/>
              </a:rPr>
              <a:t>90% de la red</a:t>
            </a:r>
          </a:p>
          <a:p>
            <a:r>
              <a:rPr sz="1200" b="0" i="0">
                <a:solidFill>
                  <a:srgbClr val="6E6E6E"/>
                </a:solidFill>
                <a:latin typeface="Inter"/>
              </a:rPr>
              <a:t>15% del SAM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147304" y="4277359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5360" y="3614419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3779011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E6E6E"/>
                </a:solidFill>
                <a:latin typeface="Inter"/>
              </a:rPr>
              <a:t>Año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96528" y="4089907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Inter"/>
              </a:rPr>
              <a:t>Rollout nacional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6528" y="4620259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E6E6E"/>
                </a:solidFill>
                <a:latin typeface="Inter"/>
              </a:rPr>
              <a:t>100% de la red</a:t>
            </a:r>
          </a:p>
          <a:p>
            <a:r>
              <a:rPr sz="1200" b="0" i="0">
                <a:solidFill>
                  <a:srgbClr val="6E6E6E"/>
                </a:solidFill>
                <a:latin typeface="Inter"/>
              </a:rPr>
              <a:t>25% del SAM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4659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F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La cobertura física crece más rápido que la captura de GMV: sin exclusividad frente a MP/MODO, migrar un hábito de pago instalado toma tiempo.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Captura de valor — moats, monetización, barreras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1" i="0">
                <a:solidFill>
                  <a:srgbClr val="222222"/>
                </a:solidFill>
                <a:latin typeface="Inter"/>
              </a:rPr>
              <a:t>No es network effect clásico de dos lados — COTO es el único vendedor.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1" i="0">
                <a:solidFill>
                  <a:srgbClr val="222222"/>
                </a:solidFill>
                <a:latin typeface="Inter"/>
              </a:rPr>
              <a:t>Network effect de datos: débil y unilateral (no es el pilar del argumento).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1" i="0">
                <a:solidFill>
                  <a:srgbClr val="222222"/>
                </a:solidFill>
                <a:latin typeface="Inter"/>
              </a:rPr>
              <a:t>Defensibilidad real:</a:t>
            </a:r>
          </a:p>
          <a:p>
            <a:pPr lvl="1">
              <a:spcAft>
                <a:spcPts val="600"/>
              </a:spcAft>
            </a:pPr>
            <a:r>
              <a:rPr sz="110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100" b="0" i="0">
                <a:solidFill>
                  <a:srgbClr val="222222"/>
                </a:solidFill>
                <a:latin typeface="Inter"/>
              </a:rPr>
              <a:t>Brand — COTO ya tiene relación de compra física</a:t>
            </a:r>
          </a:p>
          <a:p>
            <a:pPr lvl="1">
              <a:spcAft>
                <a:spcPts val="600"/>
              </a:spcAft>
            </a:pPr>
            <a:r>
              <a:rPr sz="110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100" b="0" i="0">
                <a:solidFill>
                  <a:srgbClr val="222222"/>
                </a:solidFill>
                <a:latin typeface="Inter"/>
              </a:rPr>
              <a:t>Embedding — historial y beneficios generan costo de cambio</a:t>
            </a:r>
          </a:p>
          <a:p>
            <a:pPr lvl="1">
              <a:spcAft>
                <a:spcPts val="600"/>
              </a:spcAft>
            </a:pPr>
            <a:r>
              <a:rPr sz="110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100" b="0" i="0">
                <a:solidFill>
                  <a:srgbClr val="222222"/>
                </a:solidFill>
                <a:latin typeface="Inter"/>
              </a:rPr>
              <a:t>Escala — 153 sucursales con base que ya visita seguido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1" i="0">
                <a:solidFill>
                  <a:srgbClr val="222222"/>
                </a:solidFill>
                <a:latin typeface="Inter"/>
              </a:rPr>
              <a:t>Monetización — 4 palancas:</a:t>
            </a:r>
          </a:p>
          <a:p>
            <a:pPr lvl="1">
              <a:spcAft>
                <a:spcPts val="600"/>
              </a:spcAft>
            </a:pPr>
            <a:r>
              <a:rPr sz="110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100" b="0" i="0">
                <a:solidFill>
                  <a:srgbClr val="222222"/>
                </a:solidFill>
                <a:latin typeface="Inter"/>
              </a:rPr>
              <a:t>Frecuencia (primaria) · Basket size (secundaria)</a:t>
            </a:r>
          </a:p>
          <a:p>
            <a:pPr lvl="1">
              <a:spcAft>
                <a:spcPts val="600"/>
              </a:spcAft>
            </a:pPr>
            <a:r>
              <a:rPr sz="110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100" b="0" i="0">
                <a:solidFill>
                  <a:srgbClr val="222222"/>
                </a:solidFill>
                <a:latin typeface="Inter"/>
              </a:rPr>
              <a:t>Take rate: no aplica (no es marketplace)</a:t>
            </a:r>
          </a:p>
          <a:p>
            <a:pPr lvl="1">
              <a:spcAft>
                <a:spcPts val="600"/>
              </a:spcAft>
            </a:pPr>
            <a:r>
              <a:rPr sz="1100" b="1" i="0">
                <a:solidFill>
                  <a:srgbClr val="502BD8"/>
                </a:solidFill>
                <a:latin typeface="Inter"/>
              </a:rPr>
              <a:t>-  </a:t>
            </a:r>
            <a:r>
              <a:rPr sz="1100" b="0" i="0">
                <a:solidFill>
                  <a:srgbClr val="222222"/>
                </a:solidFill>
                <a:latin typeface="Inter"/>
              </a:rPr>
              <a:t>Ad load / retail media: complementaria, desde Fase 3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1" i="0">
                <a:solidFill>
                  <a:srgbClr val="222222"/>
                </a:solidFill>
                <a:latin typeface="Inter"/>
              </a:rPr>
              <a:t>Modelo: retención / margen retail incremental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1" i="0">
                <a:solidFill>
                  <a:srgbClr val="222222"/>
                </a:solidFill>
                <a:latin typeface="Inter"/>
              </a:rPr>
              <a:t>Barrera frente a otro retailer: moderada — first mover + tiempo, no estructural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65040"/>
            <a:ext cx="1636776" cy="41148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 i="0">
                <a:solidFill>
                  <a:srgbClr val="6E6E6E"/>
                </a:solidFill>
                <a:latin typeface="Inter"/>
              </a:rPr>
              <a:t>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95144" y="4765040"/>
            <a:ext cx="1636776" cy="41148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 i="0">
                <a:solidFill>
                  <a:srgbClr val="6E6E6E"/>
                </a:solidFill>
                <a:latin typeface="Inter"/>
              </a:rPr>
              <a:t>Embedding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41648" y="4765040"/>
            <a:ext cx="1636776" cy="41148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 i="0">
                <a:solidFill>
                  <a:srgbClr val="6E6E6E"/>
                </a:solidFill>
                <a:latin typeface="Inter"/>
              </a:rPr>
              <a:t>Escala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5084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Amenaza dicha en voz alta: MP y MODO siguen aceptados en la misma caja — la wallet COTO no reemplaza, compite por share of wallet.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Modelo de negocio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TAMAÑO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TAM / SAM / SOM — cadena de supuestos transparente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502BD8"/>
                </a:solidFill>
                <a:latin typeface="Inter"/>
              </a:rPr>
              <a:t>≈ ARS 24,8 billones/año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87752"/>
            <a:ext cx="4663440" cy="38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TAM — ventas totales de supermercados (INDEC, 5 meses 2025 anualizados)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83080"/>
            <a:ext cx="5257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502BD8"/>
                </a:solidFill>
                <a:latin typeface="Inter"/>
              </a:rPr>
              <a:t>≈ ARS 458.000 M/año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663440" cy="38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SAM — gasto de COTO ya pagado con billeteras/medios digitales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39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200" b="0" i="0">
                <a:solidFill>
                  <a:srgbClr val="222222"/>
                </a:solidFill>
                <a:latin typeface="Inter"/>
              </a:rPr>
              <a:t>Carrefour + Cencosud + COTO ≈ 50% del TAM (agregador no verificado) → split parejo 1/3 → COTO ≈ ARS 4,1 billones/año → × 11,1% “otros medios” (INDEC) → SAM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47744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212336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DED6F5"/>
                </a:solidFill>
                <a:latin typeface="Inter"/>
              </a:rPr>
              <a:t>Año 1 · 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52323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Inter"/>
              </a:rPr>
              <a:t>5% del 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053584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DED6F5"/>
                </a:solidFill>
                <a:latin typeface="Inter"/>
              </a:rPr>
              <a:t>≈ ARS 22.900M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4573524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4047744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4212336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E6E6E"/>
                </a:solidFill>
                <a:latin typeface="Inter"/>
              </a:rPr>
              <a:t>Año 2 · 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452323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Inter"/>
              </a:rPr>
              <a:t>15% del SAM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5053584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E6E6E"/>
                </a:solidFill>
                <a:latin typeface="Inter"/>
              </a:rPr>
              <a:t>≈ ARS 68.750M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147304" y="4573524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95360" y="4047744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6528" y="4212336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6E6E6E"/>
                </a:solidFill>
                <a:latin typeface="Inter"/>
              </a:rPr>
              <a:t>Año 3 · SOM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52323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Inter"/>
              </a:rPr>
              <a:t>25% del SAM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5053584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E6E6E"/>
                </a:solidFill>
                <a:latin typeface="Inter"/>
              </a:rPr>
              <a:t>≈ ARS 114.600M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693664"/>
            <a:ext cx="10881360" cy="685800"/>
          </a:xfrm>
          <a:prstGeom prst="roundRect">
            <a:avLst>
              <a:gd name="adj" fmla="val 10000"/>
            </a:avLst>
          </a:prstGeom>
          <a:solidFill>
            <a:srgbClr val="F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No existe dato público de clientes, ticket promedio ni facturación de COTO — gran parte de este embudo son supuestos propios (ver Anexo). El GMV del SOM no equivale a ingreso incremental (ver Modelo financiero).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Tamaño de mercado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POR QUÉ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Sustitución de medio de pago ya en curso, no una apuesta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5146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39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502BD8"/>
                </a:solidFill>
                <a:latin typeface="Inter"/>
              </a:rPr>
              <a:t>+45,8%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07791"/>
            <a:ext cx="1920240" cy="6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QR interoperable interanual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(BCRA); débito cae 16,8%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5146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377439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502BD8"/>
                </a:solidFill>
                <a:latin typeface="Inter"/>
              </a:rPr>
              <a:t>34%→43%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907791"/>
            <a:ext cx="1920240" cy="6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del valor pagado en comercio físico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con billeteras (Global Payments '26)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103120"/>
            <a:ext cx="25146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39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502BD8"/>
                </a:solidFill>
                <a:latin typeface="Inter"/>
              </a:rPr>
              <a:t>84%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907791"/>
            <a:ext cx="1920240" cy="6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de argentinos usa QR para pagar —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el más alto de LatAm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2103120"/>
            <a:ext cx="25146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19" y="2377439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502BD8"/>
                </a:solidFill>
                <a:latin typeface="Inter"/>
              </a:rPr>
              <a:t>11,1%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19" y="2907791"/>
            <a:ext cx="1920240" cy="6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de ventas de supermercados ya es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“otros medios” (INDEC, nov. 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19"/>
            <a:ext cx="10881360" cy="960120"/>
          </a:xfrm>
          <a:prstGeom prst="roundRect">
            <a:avLst>
              <a:gd name="adj" fmla="val 10000"/>
            </a:avLst>
          </a:prstGeom>
          <a:solidFill>
            <a:srgbClr val="EC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Cuatro fuentes independientes (regulador, consultora de pagos, cámara de e-commerce, estadística oficial de supermercados) apuntan en la misma dirección al mismo tiempo — no es una apuesta sobre tecnología emergente, es una sustitución de medio de pago ya en curso y medible.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Por qué ahora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COMPETENCIA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La única cancha defendible: historial de compra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Mercado Pago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79191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Ecosistema financiero completo, sin visibilidad del historial de compra de supermercado.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65960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MODO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79191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Fricción cero (ya “adentro” del banco), pero promoción de marca de terceros, sin personalización.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Cuenta DNI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7083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Descuento genérico por rubro, sin alianza confirmada con COTO.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57600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388620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0" i="0">
                <a:solidFill>
                  <a:srgbClr val="6E6E6E"/>
                </a:solidFill>
                <a:latin typeface="Inter"/>
              </a:rPr>
              <a:t>Ualá — indirecto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70832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22222"/>
                </a:solidFill>
                <a:latin typeface="Inter"/>
              </a:rPr>
              <a:t>Licencia bancaria, 8 años, ~7,5M clientes AR — sin relación con la compra recurrente de supermercado.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Competencia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MODELO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Alto nivel — cadena de supuestos, no una proyección precisa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5262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 i="0">
                <a:solidFill>
                  <a:srgbClr val="502BD8"/>
                </a:solidFill>
                <a:latin typeface="Inter"/>
              </a:rPr>
              <a:t>USD 900.000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24912"/>
            <a:ext cx="4526279" cy="6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E6E6E"/>
                </a:solidFill>
                <a:latin typeface="Inter"/>
              </a:rPr>
              <a:t>CAPEX inicial (Fase 0-1) — partnership</a:t>
            </a:r>
          </a:p>
          <a:p>
            <a:r>
              <a:rPr sz="1300" b="0" i="0">
                <a:solidFill>
                  <a:srgbClr val="6E6E6E"/>
                </a:solidFill>
                <a:latin typeface="Inter"/>
              </a:rPr>
              <a:t>con PSP/BaaS, sin infra. bancaria propia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2327"/>
            <a:ext cx="4526279" cy="1542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Plataforma (app+backend+QR) — USD 550.000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Integración con COTO (POS, CRM) — USD 200.000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300" b="0" i="0">
                <a:solidFill>
                  <a:srgbClr val="222222"/>
                </a:solidFill>
                <a:latin typeface="Inter"/>
              </a:rPr>
              <a:t>Compliance / KYC-AML — USD 150.000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92024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250" b="1" i="0">
                <a:solidFill>
                  <a:srgbClr val="222222"/>
                </a:solidFill>
                <a:latin typeface="Inter"/>
              </a:rPr>
              <a:t>OPEX: equipo de 8-12 personas + incentivos de lanzamiento 3-5% del GMV objetivo (por analogía con reintegros de MP 10-25% / MODO 20-30%).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250" b="1" i="0">
                <a:solidFill>
                  <a:srgbClr val="222222"/>
                </a:solidFill>
                <a:latin typeface="Inter"/>
              </a:rPr>
              <a:t>GMV capturado ≠ ingreso incremental: 20% se fija como fracción genuinamente incremental (extremo conservador de 20-30%).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502BD8"/>
                </a:solidFill>
                <a:latin typeface="Inter"/>
              </a:rPr>
              <a:t>—  </a:t>
            </a:r>
            <a:r>
              <a:rPr sz="1250" b="1" i="0">
                <a:solidFill>
                  <a:srgbClr val="222222"/>
                </a:solidFill>
                <a:latin typeface="Inter"/>
              </a:rPr>
              <a:t>Margen bruto retail asociado: 22% (supuesto del equipo, sin benchmark local).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86400"/>
            <a:ext cx="10881360" cy="640080"/>
          </a:xfrm>
          <a:prstGeom prst="roundRect">
            <a:avLst>
              <a:gd name="adj" fmla="val 10000"/>
            </a:avLst>
          </a:prstGeom>
          <a:solidFill>
            <a:srgbClr val="F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50" b="0" i="1">
                <a:solidFill>
                  <a:srgbClr val="222222"/>
                </a:solidFill>
                <a:latin typeface="Inter"/>
              </a:rPr>
              <a:t>No se lidera con VAN/ROI optimista sobre esta cadena de supuestos — se presenta el número con su lógica. Riesgo principal: la fracción de GMV incremental es el supuesto menos sólido de todo el modelo.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Modelo financiero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Inter"/>
              </a:rPr>
              <a:t>“La oportunidad no es vender más pagos digitales —</a:t>
            </a:r>
          </a:p>
          <a:p>
            <a:r>
              <a:rPr sz="3200" b="1" i="0">
                <a:solidFill>
                  <a:srgbClr val="FFFFFF"/>
                </a:solidFill>
                <a:latin typeface="Inter"/>
              </a:rPr>
              <a:t>eso ya lo resuelven MP y MODO en el propio checkout de COTO.</a:t>
            </a:r>
          </a:p>
          <a:p>
            <a:r>
              <a:rPr sz="3200" b="1" i="0">
                <a:solidFill>
                  <a:srgbClr val="FFFFFF"/>
                </a:solidFill>
                <a:latin typeface="Inter"/>
              </a:rPr>
              <a:t>La oportunidad es construir el activo de datos y</a:t>
            </a:r>
          </a:p>
          <a:p>
            <a:r>
              <a:rPr sz="3200" b="1" i="0">
                <a:solidFill>
                  <a:srgbClr val="FFFFFF"/>
                </a:solidFill>
                <a:latin typeface="Inter"/>
              </a:rPr>
              <a:t>fidelización propio, no el de un competidor de facto.”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572000"/>
            <a:ext cx="10789920" cy="1417320"/>
          </a:xfrm>
          <a:prstGeom prst="roundRect">
            <a:avLst>
              <a:gd name="adj" fmla="val 8000"/>
            </a:avLst>
          </a:prstGeom>
          <a:solidFill>
            <a:srgbClr val="33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7731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4B6EC"/>
                </a:solidFill>
                <a:latin typeface="Inter"/>
              </a:rPr>
              <a:t>SIGUIENTES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138928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Inter"/>
              </a:rPr>
              <a:t>Preguntas — arrancamos por las que nosotros mismos nos hicimos primero, si quieren.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A8A8A"/>
                </a:solidFill>
                <a:latin typeface="Inter"/>
              </a:rPr>
              <a:t>Wallet COTO  ·  Cierre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A8A8A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502BD8"/>
                </a:solidFill>
                <a:latin typeface="Inter"/>
              </a:rPr>
              <a:t>ANEXO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22222"/>
                </a:solidFill>
                <a:latin typeface="Inter"/>
              </a:rPr>
              <a:t>Supuestos clave del modelo — resueltos, no abiertos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1672" cy="402336"/>
          </a:xfrm>
          <a:prstGeom prst="round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91672" cy="36576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828800"/>
            <a:ext cx="298094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Inter"/>
              </a:rPr>
              <a:t>Supuesto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5615" y="1828800"/>
            <a:ext cx="215798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Inter"/>
              </a:rPr>
              <a:t>Cifra elegida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1616" y="1828800"/>
            <a:ext cx="556869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Inter"/>
              </a:rPr>
              <a:t>Razonamiento / respaldo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31136"/>
            <a:ext cx="11091672" cy="914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231136"/>
            <a:ext cx="29809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1. Sucursales de COTO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5" y="223113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153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1616" y="2231136"/>
            <a:ext cx="5568696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Única cifra con metodología trazable (suma por zona del sitio oficial); descarta 242 (sin conciliar) y “+120” (piso de prensa).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44368"/>
            <a:ext cx="11091672" cy="71323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44368"/>
            <a:ext cx="11091672" cy="914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29809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2. Fracción de GMV incremental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5" y="294436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1616" y="2944368"/>
            <a:ext cx="5568696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Extremo conservador del rango 20-30% — MP/MODO sin exclusividad posible en caja.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57600"/>
            <a:ext cx="11091672" cy="914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657600"/>
            <a:ext cx="29809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3. Financiamiento reintegros MP/MODO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5615" y="365760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COTO ~60% de una tasa combinada de 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3657600"/>
            <a:ext cx="5568696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Sin fuente directa — el supuesto con menos respaldo de los cinco.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70832"/>
            <a:ext cx="11091672" cy="71323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370832"/>
            <a:ext cx="11091672" cy="914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4370832"/>
            <a:ext cx="29809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4. CAPEX inicial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5615" y="43708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USD 900.000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71616" y="4370832"/>
            <a:ext cx="5568696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Punto medio del rango 650K-1,15M, sin sesgo direccional.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084064"/>
            <a:ext cx="11091672" cy="914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" y="5084064"/>
            <a:ext cx="298094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5. Margen bruto retail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85615" y="50840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22%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5084064"/>
            <a:ext cx="5568696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222222"/>
                </a:solidFill>
                <a:latin typeface="Inter"/>
              </a:rPr>
              <a:t>Orden de magnitud de industria, sin fuente específica de Argentina/COTO.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Wallet COTO  ·  Anexo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E6E6E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