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CotoPay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131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Business plan — pitch de venta de la idea de negocio a inversores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8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MT25 Estrategias de Negocios en Internet · Pitch de 15 minutos + 10 de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85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Mariana Fiorillo · Andres Franco · Diego Pouton · Luciano Suarez · Agustin Trucco · Emma Vignoles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Maestría en Gestión de Servicios Tecnológicos y de Telecomunicaciones — UdeSA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93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Probá el prototipo en tu celular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Mariana Fiorillo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0400" y="1511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Andres Franco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12800" y="1511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Diego Pouton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961998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Luciano Suarez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400" y="1961998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Agustin Trucco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2800" y="1961998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Emma Vignoles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Presentación 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PROPÓSITO DE LA EMPRESA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Por qué existe esta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"Construir la relación directa de pago, datos y fidelización que hoy COTO no tiene con sus propios clientes — porque hoy esa relación la construyen Mercado Pago y MODO, cada vez que un cliente paga digital en una sucursal COTO."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61998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Esta frase vuelve casi igual en el cierre — cierra el círculo del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Presentación 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No es un problema de acceso  ·  Qué pierde COTO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PROBLEMA ·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Esto no es un problema de acceso a pago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0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69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Según BBVA (22/1/2025), las alianzas de MODO con Coto y Día duplicaron el volumen de MODO en supermercados durante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19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COTO ya tiene alianzas comerciales activas y vigentes : Mercado Pago (QR desde ~agosto 2020, con descuentos) y MODO (alianza renovada mayo 2024, reintegros 20-30% con tope $10.000–25.000 por banco).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753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Bajo el marco de la Clase 1 de MT25 (caso Movistar), esto ya es digitalización de un proceso existente — COTO ya lo hizo. No es transformación digital.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Problema 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No es un problema de acceso  ·  Qué pierde COTO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PROBLEMA ·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Qué pierde COTO al procesar ese pago vía terceros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88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Datos de primera parte incompletos — el vínculo pago↔identidad↔comportamiento lo construye y posee el tercero.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3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Fidelización cedida a terceros — el cliente asocia el beneficio a "MP" o "MODO", no a COTO, aunque el gasto pase en un local COTO.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57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Cero control sobre el calendario promocional del propio checkout.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91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Dependencia de reglas ajenas — cualquier cambio de MP/MODO/bancos impacta el checkout de COTO sin que COTO lo decida.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825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Pregunta abierta para Q&amp;A: no hay fuente que confirme quién financia hoy los reintegros de MP/MODO en sucursales COTO (retomado en Modelo financiero y en el Anexo).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Problema 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No competimos como "banco digital más chico" — competimos por conocer mejor al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99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Beneficios personalizados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77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Según historial real de compra (categoría, frecuencia, ticket) — no un % genérico por rubro como Cuenta DNI, ni dependiente de Meli+ como 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0400" y="1799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Fidelización dentro del pago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0400" y="2177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Vive dentro del mismo instrumento de pago, sin tarjeta aparte — ningún competidor integra "beneficio" y "pago" en el mismo QR con reglas fijas y visibles.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627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COTO no tiene licencia bancaria ni track record fintech, y esa pelea ya la tienen ganada Mercado Pago y Ualá. La wallet COTO compite como la wallet que mejor conoce el historial de compra real de supermercado del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Solución 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Flujo del producto  ·  Roadmap de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PRODUCTO ·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5 pantallas núcleo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Onboarding simplificado, sin costo de apertura.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25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Home con beneficios calculados sobre historial de compra.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59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Pagar en caja — QR propio, interoperable bajo el estándar BCRA de Transferencias 3.0: un tap paga, aplica el beneficio y suma puntos.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93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Beneficios con reglas fijas y visibles por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27999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Recompra rápida , integrada con el catálogo de Coto Digital.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Producto 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Flujo del producto  ·  Roadmap de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PRODUCTO ·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Piloto → rollout nacional en 3 años, atado a la captura de 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0012"/>
                </a:solidFill>
                <a:latin typeface="Calibri"/>
              </a:rPr>
              <a:t>Fases: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FASE 0 · MESES 0-6 | Piloto | 15-20 sucursales en CABA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2300" y="185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AÑO 1 | 100% CABA | 59% de la red total 5% del SAM capturado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600" y="185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AÑO 2 | + GBA | 90% de la red 15% del 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900" y="1853999"/>
            <a:ext cx="26523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AÑO 3 | Rollout nacional | 100% de la red 25% del 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4479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La cobertura física crece más rápido que la captura de GMV porque no hay exclusividad posible frente a MP/MODO — migrar un hábito de pago instalado toma tiempo aunque la sucursal ya esté habilitada.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Producto 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Moat  ·  Amenaza  ·  Monetización  ·  Barreras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DE NEGOCIO ·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Qué tipo de defensibilidad tiene — y qué tipo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69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COTO ya tiene relación de compra física, no arranca de cero — a Ualá le costó 8 años y capital de fondos globales llegar a 7,5M de clientes.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0400" y="1691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400" y="2069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Historial y beneficios personalizados generan costo de cambio creciente para 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2800" y="1691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Escala de distribución física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2800" y="2069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153 sucursales y una base que ya visita esas sucursales con frecuencia.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519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No es un network effect clásico de dos lados — COTO es el único vendedor, no hay lógica de marketplace. Sí hay un network effect de datos, pero débil y unilateral — se marca explícitamente como moat débil, no como pilar del argumento. La defensibilidad real se apoya en tres cosas: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de negocio 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Moat  ·  Amenaza  ·  Monetización  ·  Barreras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DE NEGOCIO · 2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La amenaza, dicha en voz alta antes de que la pregunten: multi-tenanting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979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MP y MODO ya son medios aceptados y activamente promocionados en las sucursales de COTO hoy. Nada impide que el cliente los siga usando en la misma caja, y por el mandato de interoperabilidad QR del BCRA, COTO tampoco podría forzar exclusividad aunque quisiera.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429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La wallet COTO no reemplaza a MP/MODO, compite por una porción del share of wallet — exactamente lo que refleja la curva conservadora del SOM (5%→15%→25%).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de negocio 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Moat  ·  Amenaza  ·  Monetización  ·  Barreras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DE NEGOCIO ·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Cómo se monetiza — 4 palancas, priorizadas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Palanca  |  Aplicación al caso COTO  |  Peso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Frecuencia  |  Palanca primaria: la wallet empuja a comprar más seguido en COTO en vez de repartir el gasto entre cadenas  | 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Basket size  |  Cross-sell vía recompra en Coto Digital — sin dato de elasticidad propio, se deja cualitativo  | 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Take rate  |  No aplica — no es modelo de marketplace  |  No aplica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45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Ad load / retail media  |  Venta de espacios promocionales a proveedores/CPG — recién viable desde la Fase 3  |  Baja, complementaria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8403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Modelo resultante: retención / margen retail incremental , no comisión ni suscripción al cliente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de negocio 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Moat  ·  Amenaza  ·  Monetización  ·  Barreras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DE NEGOCIO ·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Barreras de entrada — con el límite dicho explícito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Frente a MP / MODO / Ualá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69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Brand + embedding + distribución, sin exclusividad posible en el propio checkout.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0400" y="1691999"/>
            <a:ext cx="3542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Frente a otro retailer (Carrefour, Cencosud, Día)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0400" y="2069999"/>
            <a:ext cx="35424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 hay barrera estructural fuerte — lo que compra tiempo es ser first mover entre las tres cadenas grandes, más el embedding acumulado.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de negocio 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TAM  ·  SAM  · 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TAMAÑO DE MERCADO ·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TAM — ventas totales de supermercados en 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 existe ningún dato público de clientes, ticket promedio, frecuencia de compra ni facturación de COTO. Gran parte de este embudo son supuestos propios del equipo, marcados paso a paso — se prioriza mostrar la lógica de cada salto sobre la precisión del número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41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INDEC, promediando los 5 meses de 2025 disponibles y anualizando. No incluye diciembre (mes pico) ni ajusta inflación intra-año — cifra direccional.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Tamaño de mercado 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TAM  ·  SAM  · 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TAMAÑO DE MERCADO ·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SAM — el gasto que ya se paga hoy con billeteras/medios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0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≈ARS 458.000M/año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69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SAM — "esto es, literalmente, la cuantificación del problema: dinero que ya eligió pagar digital en COTO, pero hoy no vía COTO."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19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Carrefour + Cencosud + COTO ≈50% del TAM (fuente de agregador, no verificada contra el informe original).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753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Sin dato para diferenciar por cadena, supuesto de split parejo 1/3 → COTO ≈ARS 4,1 billones/año.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987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Se aplica el 11,1% de "otros medios" que INDEC midió a nivel nacional en supermercados.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221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Se define como la porción del gasto de COTO que ya se paga hoy con billeteras/medios digitales — el segmento listo para migrar, no el que hay que convertir del efectivo primero.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Tamaño de mercado 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TAM  ·  SAM  · 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TAMAÑO DE MERCADO ·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SOM — captura conservadora, atada al roadmap de sucursales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Año  |  Cobertura de sucursales  |  % del SAM capturado  |  GMV vía wallet COTO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9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1  |  ~59% (CABA)  |  5%  |  ≈ARS 22.900 millones/año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2  |  ~90% (+GBA)  |  15%  |  ≈ARS 68.750 millones/año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6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3  |  100% (+resto del país)  |  25%  |  ≈ARS 114.600 millones/año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531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Este GMV no equivale a ingreso incremental para COTO — se resuelve en Modelo financiero.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9231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Chequeo de plausibilidad: no hay bottom-up independiente posible por falta de dato de tráfico por sucursal — se dice así explícitamente en vez de forzar una segunda cuenta disfrazada de fuente independiente.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Tamaño de mercado 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POR QUÉ AHORA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No es una apuesta sobre tecnología emergente — es sustitución de medio de pago ya en curso y medible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99999"/>
            <a:ext cx="1080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+45,8%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77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BCRA: pagos con QR interoperable interanual; débito cayendo 16,8% — sustitución activa del medio de pago, no solo crecimiento nuevo.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627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Global Payments Report 2026: billeteras digitales pasaron de 34% a 43% del valor pagado en comercio físico en Argentina en un año; 84% de los argentinos usa QR para pagar con el celular — el más alto de Latinoamérica.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861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INDEC: "otros medios" (incluye billeteras) ya es 11,1% de las ventas de supermercados (nov. 2024) — el sector ya muestra tracción, sin que exista todavía una wallet propia de COTO.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Por qué ahora 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La única cancha con ventaja defendible: el historial de compra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1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Competidor  |  Límite frente a la propuesta de wallet COTO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713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Mercado Pago  |  Ecosistema financiero completo, pero sin visibilidad del historial de compra de supermercado del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00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MODO  |  Fricción cero (ya está "adentro" del banco), pero es promoción de marca del tercero, sin personalización por historial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087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Cuenta DNI  |  Descuento genérico por rubro, sin alianza confirmada con COTO, sin personalización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275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Ualá  |  Competidor indirecto — licencia bancaria, 8 años de scoring, ~7,5M de clientes — pero sin relación con la compra recurrente de supermercado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6603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El pitch no se apoya en "aceptar pagos digitales" — eso ya lo resuelven MP y MODO hoy dentro del propio checkout de COTO. La única cancha con ventaja potencial y defendible es el historial de compra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Competencia 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Inversión y costos  ·  De GMV a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FINANCIERO ·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CAPEX y OPEX — supuestos de trabajo, no cotizaciones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10807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2BD8"/>
                </a:solidFill>
                <a:latin typeface="Calibri"/>
              </a:rPr>
              <a:t>USD 900.000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69999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CAPEX inicial (Fase 0-1) — punto medio del rango 650K-1,15M original. Plataforma vía partnership con un PSP/BaaS existente. Ningún componente cotizado con proveedor real todavía.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19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Equipo de 8-12 personas para Fase 0-1 (sin costo salarial estimado).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753998"/>
            <a:ext cx="10897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Incentivos de lanzamiento equivalentes a 3-5% del GMV objetivo de cada fase — por analogía de orden de magnitud con los reintegros de la competencia (10-25% MP, 20-30% MODO).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987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No existe ningún dato financiero público de COTO. Todo lo que sigue es una cadena de supuestos del equipo con su lógica al lado — el objetivo es mostrar una estructura defendible, no una proyección precisa.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financiero 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6E6E"/>
                </a:solidFill>
                <a:latin typeface="Calibri"/>
              </a:rPr>
              <a:t>Inversión y costos  ·  De GMV a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2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MODELO FINANCIERO ·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918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El GMV no es ingreso incremental por sí mismo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691999"/>
            <a:ext cx="53586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 se lidera con un número de VAN/ROI optimista construido sobre esta cadena de supuestos. Se presenta el número puntual junto con la lógica de por qué es conservador, citando el Anexo de supuestos.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600" y="1691999"/>
            <a:ext cx="53586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La fracción de GMV genuinamente incremental sigue siendo el supuesto menos sólido de todo el modelo — pesa más que el riesgo tecnológico o de costo de plataforma.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141998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Se fija 20% (extremo conservador del rango 20-30%) como fracción de GMV genuinamente incremental, con margen bruto retail de 22% sobre ese incremental — ambos supuestos del equipo, ver Anexo.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Modelo financiero 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0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"La oportunidad no es vender más pagos digitales — eso ya lo resuelven MP y MODO dentro del propio checkout de COTO. La oportunidad es que COTO deje de financiar, con su propio piso de venta, la construcción del activo de datos y fidelización de un competidor de facto — y empiece a construir el suyo."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89999"/>
            <a:ext cx="10897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FAFAF"/>
                </a:solidFill>
                <a:latin typeface="Calibri"/>
              </a:rPr>
              <a:t>Quedan 10 minutos y hay preguntas que nosotros mismos nos hicimos primero — arranquemos por esas si quieren.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Cierre 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540000"/>
            <a:ext cx="108972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0012"/>
                </a:solidFill>
                <a:latin typeface="Calibri"/>
              </a:rPr>
              <a:t>ANEXO · PARA LOS 10 MINUTOS DE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738000"/>
            <a:ext cx="10897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5 cifras sin fuente confirmada — documentadas para que el panel las vea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799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0012"/>
                </a:solidFill>
                <a:latin typeface="Calibri"/>
              </a:rPr>
              <a:t>#  |  Gap  |  Cifra adoptada  |  Fuente  |  Nivel de respaldo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015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1  |  Sucursales COTO  |  153  |  Parcial (suma verificable de la propia página de COTO)  |  Medio-alto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887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2  |  Fracción de GMV incremental  |  20% (extremo conservador de 20-30%)  |  Ninguna — supuesto del equipo  |  Bajo, con lógica de negocio explícita (multi-tenanting)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59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3  |  Financiamiento de reintegros MP/MODO  |  COTO cofinancia ~60%, tasa combinada de reintegro 20%  |  Ninguna — supuesto del equipo  |  El más bajo de los cinco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5631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4  |  CAPEX inicial  |  USD 900.000 (punto medio del rango)  |  Ninguna — supuesto del equipo  |  Bajo, sin sesgo direccional razonado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750399"/>
            <a:ext cx="108972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5  |  Margen bruto retail  |  22%  |  Ninguna específica de AR/COTO — conocimiento general de industria  |  Bajo — junto con el punto 3, el de mayor incertidumbre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3135599"/>
            <a:ext cx="1089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Calibri"/>
              </a:rPr>
              <a:t>Ninguno de los cinco se presenta como un hecho verificado en el documento — se marcan como supuestos explícitos del equipo, consistente con la regla de este TP de nunca afirmar un dato de mercado o cifra sin fuente citada.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6588000"/>
            <a:ext cx="10897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8080"/>
                </a:solidFill>
                <a:latin typeface="Calibri"/>
              </a:rPr>
              <a:t>CotoPay — Business plan · Anexo de supuestos 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